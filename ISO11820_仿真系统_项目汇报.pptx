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00000"/>
            <a:ext cx="9144000" cy="350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0000" y="1100000"/>
            <a:ext cx="7600000" cy="7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微软雅黑"/>
              </a:defRPr>
            </a:pPr>
            <a:r>
              <a:t>ISO 11820 建筑材料不燃性试验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750000"/>
            <a:ext cx="76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仿真系统设计与实现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00000"/>
            <a:ext cx="760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A0C4FF"/>
                </a:solidFill>
                <a:latin typeface="微软雅黑"/>
              </a:defRPr>
            </a:pPr>
            <a:r>
              <a:t>基于 .NET 8 + WinForms + SQLite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700000"/>
            <a:ext cx="760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微软雅黑"/>
              </a:defRPr>
            </a:pPr>
            <a:r>
              <a:t>软件工程课程项目汇报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200000"/>
            <a:ext cx="760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80A0D0"/>
                </a:solidFill>
                <a:latin typeface="微软雅黑"/>
              </a:defRPr>
            </a:pPr>
            <a:r>
              <a:t>2026年7月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0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50000" y="200000"/>
            <a:ext cx="3000000" cy="4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E1E1E"/>
                </a:solidFill>
                <a:latin typeface="微软雅黑"/>
              </a:defRPr>
            </a:pPr>
            <a: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0000" y="850000"/>
            <a:ext cx="6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1A56DB"/>
                </a:solidFill>
                <a:latin typeface="微软雅黑"/>
              </a:defRPr>
            </a:pPr>
            <a: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950000" y="870000"/>
            <a:ext cx="20000" cy="2800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0000" y="880000"/>
            <a:ext cx="55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1E1E1E"/>
                </a:solidFill>
                <a:latin typeface="微软雅黑"/>
              </a:defRPr>
            </a:pPr>
            <a:r>
              <a:t>研究背景与问题</a:t>
            </a:r>
          </a:p>
        </p:txBody>
      </p:sp>
      <p:sp>
        <p:nvSpPr>
          <p:cNvPr id="7" name="Rectangle 6"/>
          <p:cNvSpPr/>
          <p:nvPr/>
        </p:nvSpPr>
        <p:spPr>
          <a:xfrm>
            <a:off x="400000" y="1220000"/>
            <a:ext cx="8200000" cy="800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0000" y="1330000"/>
            <a:ext cx="6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1A56DB"/>
                </a:solidFill>
                <a:latin typeface="微软雅黑"/>
              </a:defRPr>
            </a:pPr>
            <a: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950000" y="1350000"/>
            <a:ext cx="20000" cy="2800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1360000"/>
            <a:ext cx="55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1E1E1E"/>
                </a:solidFill>
                <a:latin typeface="微软雅黑"/>
              </a:defRPr>
            </a:pPr>
            <a:r>
              <a:t>国内外研究现状与竞品分析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0000" y="1700000"/>
            <a:ext cx="8200000" cy="800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0000" y="1810000"/>
            <a:ext cx="6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1A56DB"/>
                </a:solidFill>
                <a:latin typeface="微软雅黑"/>
              </a:defRPr>
            </a:pPr>
            <a:r>
              <a:t>03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0000" y="1830000"/>
            <a:ext cx="20000" cy="2800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1840000"/>
            <a:ext cx="55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1E1E1E"/>
                </a:solidFill>
                <a:latin typeface="微软雅黑"/>
              </a:defRPr>
            </a:pPr>
            <a:r>
              <a:t>研究内容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0000" y="2180000"/>
            <a:ext cx="8200000" cy="800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0000" y="2290000"/>
            <a:ext cx="6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1A56DB"/>
                </a:solidFill>
                <a:latin typeface="微软雅黑"/>
              </a:defRPr>
            </a:pPr>
            <a:r>
              <a:t>04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0000" y="2310000"/>
            <a:ext cx="20000" cy="2800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2320000"/>
            <a:ext cx="55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1E1E1E"/>
                </a:solidFill>
                <a:latin typeface="微软雅黑"/>
              </a:defRPr>
            </a:pPr>
            <a:r>
              <a:t>研究路线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0000" y="2660000"/>
            <a:ext cx="8200000" cy="800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0000" y="2770000"/>
            <a:ext cx="6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1A56DB"/>
                </a:solidFill>
                <a:latin typeface="微软雅黑"/>
              </a:defRPr>
            </a:pPr>
            <a:r>
              <a:t>05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0000" y="2790000"/>
            <a:ext cx="20000" cy="2800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00000" y="2800000"/>
            <a:ext cx="55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1E1E1E"/>
                </a:solidFill>
                <a:latin typeface="微软雅黑"/>
              </a:defRPr>
            </a:pPr>
            <a:r>
              <a:t>软件需求分析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0000" y="3140000"/>
            <a:ext cx="8200000" cy="800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0000" y="3250000"/>
            <a:ext cx="6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1A56DB"/>
                </a:solidFill>
                <a:latin typeface="微软雅黑"/>
              </a:defRPr>
            </a:pPr>
            <a:r>
              <a:t>06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000" y="3270000"/>
            <a:ext cx="20000" cy="2800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0000" y="3280000"/>
            <a:ext cx="55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1E1E1E"/>
                </a:solidFill>
                <a:latin typeface="微软雅黑"/>
              </a:defRPr>
            </a:pPr>
            <a:r>
              <a:t>软件概要设计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0000" y="3620000"/>
            <a:ext cx="8200000" cy="800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0000" y="3730000"/>
            <a:ext cx="6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1A56DB"/>
                </a:solidFill>
                <a:latin typeface="微软雅黑"/>
              </a:defRPr>
            </a:pPr>
            <a:r>
              <a:t>07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0000" y="3750000"/>
            <a:ext cx="20000" cy="2800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0000" y="3760000"/>
            <a:ext cx="55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1E1E1E"/>
                </a:solidFill>
                <a:latin typeface="微软雅黑"/>
              </a:defRPr>
            </a:pPr>
            <a:r>
              <a:t>软件详细设计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0000" y="4100000"/>
            <a:ext cx="8200000" cy="800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0000" y="4210000"/>
            <a:ext cx="6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1A56DB"/>
                </a:solidFill>
                <a:latin typeface="微软雅黑"/>
              </a:defRPr>
            </a:pPr>
            <a:r>
              <a:t>08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0000" y="4230000"/>
            <a:ext cx="20000" cy="2800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00000" y="4240000"/>
            <a:ext cx="55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1E1E1E"/>
                </a:solidFill>
                <a:latin typeface="微软雅黑"/>
              </a:defRPr>
            </a:pPr>
            <a:r>
              <a:t>软件实现与展示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00000" y="4580000"/>
            <a:ext cx="8200000" cy="800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0000" y="600000"/>
            <a:ext cx="3500000" cy="1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0" b="1">
                <a:solidFill>
                  <a:srgbClr val="1A56DB"/>
                </a:solidFill>
                <a:latin typeface="微软雅黑"/>
              </a:defRPr>
            </a:pPr>
            <a:r>
              <a:t>01</a:t>
            </a:r>
          </a:p>
        </p:txBody>
      </p:sp>
      <p:sp>
        <p:nvSpPr>
          <p:cNvPr id="3" name="Rectangle 2"/>
          <p:cNvSpPr/>
          <p:nvPr/>
        </p:nvSpPr>
        <p:spPr>
          <a:xfrm>
            <a:off x="400000" y="2000000"/>
            <a:ext cx="800000" cy="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0000" y="2150000"/>
            <a:ext cx="50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1E1E1E"/>
                </a:solidFill>
                <a:latin typeface="微软雅黑"/>
              </a:defRPr>
            </a:pPr>
            <a:r>
              <a:t>研究背景与问题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7850000" y="700000"/>
            <a:ext cx="0" cy="3600000"/>
          </a:xfrm>
          <a:prstGeom prst="rect">
            <a:avLst/>
          </a:prstGeom>
          <a:noFill/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0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50000" y="130000"/>
            <a:ext cx="200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/>
              </a:defRPr>
            </a:pPr>
            <a:r>
              <a:t>01 研究背景与问题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0000" y="350000"/>
            <a:ext cx="85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1E1E1E"/>
                </a:solidFill>
                <a:latin typeface="微软雅黑"/>
              </a:defRPr>
            </a:pPr>
            <a:r>
              <a:t>研究背景</a:t>
            </a:r>
          </a:p>
        </p:txBody>
      </p:sp>
      <p:sp>
        <p:nvSpPr>
          <p:cNvPr id="5" name="Rectangle 4"/>
          <p:cNvSpPr/>
          <p:nvPr/>
        </p:nvSpPr>
        <p:spPr>
          <a:xfrm>
            <a:off x="350000" y="780000"/>
            <a:ext cx="8400000" cy="2500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00000" y="4900000"/>
            <a:ext cx="6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微软雅黑"/>
              </a:defRPr>
            </a:pPr>
            <a: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350000" y="900000"/>
            <a:ext cx="4300000" cy="20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0000" y="960000"/>
            <a:ext cx="410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1A56DB"/>
                </a:solidFill>
                <a:latin typeface="微软雅黑"/>
              </a:defRPr>
            </a:pPr>
            <a:r>
              <a:t>ISO 11820 标准简介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000" y="1220000"/>
            <a:ext cx="410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ISO 11820 是国际标准化组织制定的建筑材料不燃性试验标准。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核心要求：将建筑材料样品放入加热炉，加热至 750°C，持续记录 60 分钟温度数据，根据温升和失重率判断材料是否不燃。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关键参数：目标温度 750°C ± 5°C；10 分钟温漂 ≤ 2°C；试验时长 30~60 分钟；连续采集温度数据。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0" y="900000"/>
            <a:ext cx="3800000" cy="20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00000" y="960000"/>
            <a:ext cx="360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EF4444"/>
                </a:solidFill>
                <a:latin typeface="微软雅黑"/>
              </a:defRPr>
            </a:pPr>
            <a:r>
              <a:t>传统试验的痛点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00000" y="1220000"/>
            <a:ext cx="360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• 硬件昂贵：试验炉数十万元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• 人工操作：全程监控，劳动强度大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• 数据手工记录：易遗漏、出错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• 温度判断主观：依赖人工经验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• 报告编写耗时：手工整理数据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• 教学受限：学生动手机会少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0000" y="3100000"/>
            <a:ext cx="8450000" cy="18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000" y="3160000"/>
            <a:ext cx="82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微软雅黑"/>
              </a:defRPr>
            </a:pPr>
            <a:r>
              <a:t>本项目的切入点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000" y="3420000"/>
            <a:ext cx="8250000" cy="1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开发纯软件仿真系统——无需真实硬件，程序自动生成仿真温度数据，用户按照真实操作流程走一遍，最终生成标准格式报告。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应用场景：高校教学演示（低成本、零风险）| 操作员培训（反复练习）| 控制算法开发验证（脱离硬件调试）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0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50000" y="130000"/>
            <a:ext cx="200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/>
              </a:defRPr>
            </a:pPr>
            <a:r>
              <a:t>01 研究背景与问题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0000" y="350000"/>
            <a:ext cx="85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1E1E1E"/>
                </a:solidFill>
                <a:latin typeface="微软雅黑"/>
              </a:defRPr>
            </a:pPr>
            <a:r>
              <a:t>核心问题定义</a:t>
            </a:r>
          </a:p>
        </p:txBody>
      </p:sp>
      <p:sp>
        <p:nvSpPr>
          <p:cNvPr id="5" name="Rectangle 4"/>
          <p:cNvSpPr/>
          <p:nvPr/>
        </p:nvSpPr>
        <p:spPr>
          <a:xfrm>
            <a:off x="350000" y="780000"/>
            <a:ext cx="8400000" cy="2500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00000" y="4900000"/>
            <a:ext cx="6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微软雅黑"/>
              </a:defRPr>
            </a:pPr>
            <a: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0000" y="950000"/>
            <a:ext cx="850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1E1E1E"/>
                </a:solidFill>
                <a:latin typeface="微软雅黑"/>
              </a:defRPr>
            </a:pPr>
            <a:r>
              <a:t>当前建筑材料不燃性试验教学与开发面临的四大核心痛点</a:t>
            </a:r>
          </a:p>
        </p:txBody>
      </p:sp>
      <p:sp>
        <p:nvSpPr>
          <p:cNvPr id="8" name="Rectangle 7"/>
          <p:cNvSpPr/>
          <p:nvPr/>
        </p:nvSpPr>
        <p:spPr>
          <a:xfrm>
            <a:off x="350000" y="1400000"/>
            <a:ext cx="8450000" cy="72000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000" y="1460000"/>
            <a:ext cx="82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1E1E1E"/>
                </a:solidFill>
                <a:latin typeface="微软雅黑"/>
              </a:defRPr>
            </a:pPr>
            <a:r>
              <a:t>硬件依赖强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000" y="1720000"/>
            <a:ext cx="825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真实不燃性试验炉价格昂贵（数十万元），高校难以大量配备，学生动手操作机会有限。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0000" y="2250000"/>
            <a:ext cx="8450000" cy="72000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000" y="2310000"/>
            <a:ext cx="82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1E1E1E"/>
                </a:solidFill>
                <a:latin typeface="微软雅黑"/>
              </a:defRPr>
            </a:pPr>
            <a:r>
              <a:t>操作门槛高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000" y="2570000"/>
            <a:ext cx="825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试验流程复杂，需经专业培训才能独立操作，课堂演示难以覆盖全员。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0000" y="3100000"/>
            <a:ext cx="8450000" cy="72000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000" y="3160000"/>
            <a:ext cx="82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1E1E1E"/>
                </a:solidFill>
                <a:latin typeface="微软雅黑"/>
              </a:defRPr>
            </a:pPr>
            <a:r>
              <a:t>数据采集难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000" y="3420000"/>
            <a:ext cx="825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温度数据人工记录繁琐易错，缺少统一的数据管理和分析平台，追溯困难。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0000" y="3950000"/>
            <a:ext cx="8450000" cy="72000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0000" y="4010000"/>
            <a:ext cx="82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1E1E1E"/>
                </a:solidFill>
                <a:latin typeface="微软雅黑"/>
              </a:defRPr>
            </a:pPr>
            <a:r>
              <a:t>开发验证慢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000" y="4270000"/>
            <a:ext cx="825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开发真实控制系统必须在物理设备上反复调试，周期长、成本高、风险大。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0000" y="600000"/>
            <a:ext cx="3500000" cy="1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0" b="1">
                <a:solidFill>
                  <a:srgbClr val="1A56DB"/>
                </a:solidFill>
                <a:latin typeface="微软雅黑"/>
              </a:defRPr>
            </a:pPr>
            <a:r>
              <a:t>02</a:t>
            </a:r>
          </a:p>
        </p:txBody>
      </p:sp>
      <p:sp>
        <p:nvSpPr>
          <p:cNvPr id="3" name="Rectangle 2"/>
          <p:cNvSpPr/>
          <p:nvPr/>
        </p:nvSpPr>
        <p:spPr>
          <a:xfrm>
            <a:off x="400000" y="2000000"/>
            <a:ext cx="800000" cy="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0000" y="2150000"/>
            <a:ext cx="50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1E1E1E"/>
                </a:solidFill>
                <a:latin typeface="微软雅黑"/>
              </a:defRPr>
            </a:pPr>
            <a:r>
              <a:t>国内外研究现状与竞品分析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7850000" y="700000"/>
            <a:ext cx="0" cy="3600000"/>
          </a:xfrm>
          <a:prstGeom prst="rect">
            <a:avLst/>
          </a:prstGeom>
          <a:noFill/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0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50000" y="130000"/>
            <a:ext cx="200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/>
              </a:defRPr>
            </a:pPr>
            <a:r>
              <a:t>02 国内外研究现状与竞品分析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0000" y="350000"/>
            <a:ext cx="85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1E1E1E"/>
                </a:solidFill>
                <a:latin typeface="微软雅黑"/>
              </a:defRPr>
            </a:pPr>
            <a:r>
              <a:t>国内外研究现状</a:t>
            </a:r>
          </a:p>
        </p:txBody>
      </p:sp>
      <p:sp>
        <p:nvSpPr>
          <p:cNvPr id="5" name="Rectangle 4"/>
          <p:cNvSpPr/>
          <p:nvPr/>
        </p:nvSpPr>
        <p:spPr>
          <a:xfrm>
            <a:off x="350000" y="780000"/>
            <a:ext cx="8400000" cy="2500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00000" y="4900000"/>
            <a:ext cx="6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微软雅黑"/>
              </a:defRPr>
            </a:pPr>
            <a: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350000" y="900000"/>
            <a:ext cx="4200000" cy="18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0000" y="960000"/>
            <a:ext cx="400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1A56DB"/>
                </a:solidFill>
                <a:latin typeface="微软雅黑"/>
              </a:defRPr>
            </a:pPr>
            <a:r>
              <a:t>国外研究现状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000" y="1220000"/>
            <a:ext cx="4000000" cy="1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• 欧美国家主导，聚焦智能化与自动化技术整合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• 美国 NIST 提出融合红外热成像与气体传感器的动态监测平台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• 德国 NETZSCH、美国 TA 仪器等厂商推出商用试验系统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• 数据驱动方法成为主流，强调测试精度与可追溯性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局限：多为专有封闭方案，成本高，缺少定制化仿真教学系统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00000" y="900000"/>
            <a:ext cx="4200000" cy="18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00000" y="960000"/>
            <a:ext cx="400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1A56DB"/>
                </a:solidFill>
                <a:latin typeface="微软雅黑"/>
              </a:defRPr>
            </a:pPr>
            <a:r>
              <a:t>国内研究现状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00000" y="1220000"/>
            <a:ext cx="4000000" cy="1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• 国标 GB/T 5464-2010 为试验提供基础框架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• 研究集中在标准制定和手动测试方法优化上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• 自动化程度较低，多数设备依赖人工操作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• 设备多局限于硬件升级，软件集成度不足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• 缺乏统一的数据管理平台和仿真教学工具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局限：自动化测控系统研究起步晚，仿真教学软件几乎空白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0000" y="2900000"/>
            <a:ext cx="8450000" cy="20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000" y="2960000"/>
            <a:ext cx="82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E86A17"/>
                </a:solidFill>
                <a:latin typeface="微软雅黑"/>
              </a:defRPr>
            </a:pPr>
            <a:r>
              <a:t>差距与市场空白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000" y="3220000"/>
            <a:ext cx="825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国外系统自动化程度高，但价格昂贵（30-100万），系统封闭，不适合高校教学场景。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国内硬件设备逐步发展，但软件系统（特别是仿真系统）严重滞后。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市场空白：缺乏一套面向教学和开发的 ISO 11820 不燃性试验纯软件仿真系统。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本项目定位：填补这一空白，开发零成本、易部署的仿真教学与开发验证工具。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0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50000" y="130000"/>
            <a:ext cx="200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/>
              </a:defRPr>
            </a:pPr>
            <a:r>
              <a:t>02 国内外研究现状与竞品分析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0000" y="350000"/>
            <a:ext cx="85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1E1E1E"/>
                </a:solidFill>
                <a:latin typeface="微软雅黑"/>
              </a:defRPr>
            </a:pPr>
            <a:r>
              <a:t>竞品分析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350000" y="780000"/>
            <a:ext cx="8400000" cy="2500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00000" y="4900000"/>
            <a:ext cx="6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微软雅黑"/>
              </a:defRPr>
            </a:pPr>
            <a:r>
              <a:t>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50000" y="950000"/>
          <a:ext cx="8650000" cy="3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0000"/>
                <a:gridCol w="1800000"/>
                <a:gridCol w="1800000"/>
                <a:gridCol w="1800000"/>
                <a:gridCol w="1850000"/>
              </a:tblGrid>
              <a:tr h="42222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对比维度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NETZSCH(德国)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TA仪器(美国)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国产试验系统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本项目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42222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1E1E"/>
                          </a:solidFill>
                          <a:latin typeface="微软雅黑"/>
                        </a:defRPr>
                      </a:pPr>
                      <a:r>
                        <a:t>系统类型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1E1E"/>
                          </a:solidFill>
                          <a:latin typeface="微软雅黑"/>
                        </a:defRPr>
                      </a:pPr>
                      <a:r>
                        <a:t>硬件+软件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1E1E"/>
                          </a:solidFill>
                          <a:latin typeface="微软雅黑"/>
                        </a:defRPr>
                      </a:pPr>
                      <a:r>
                        <a:t>硬件+软件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1E1E"/>
                          </a:solidFill>
                          <a:latin typeface="微软雅黑"/>
                        </a:defRPr>
                      </a:pPr>
                      <a:r>
                        <a:t>硬件+软件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A56DB"/>
                          </a:solidFill>
                          <a:latin typeface="微软雅黑"/>
                        </a:defRPr>
                      </a:pPr>
                      <a:r>
                        <a:t>纯软件仿真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</a:tr>
              <a:tr h="42222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1E1E"/>
                          </a:solidFill>
                          <a:latin typeface="微软雅黑"/>
                        </a:defRPr>
                      </a:pPr>
                      <a:r>
                        <a:t>价格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1E1E"/>
                          </a:solidFill>
                          <a:latin typeface="微软雅黑"/>
                        </a:defRPr>
                      </a:pPr>
                      <a:r>
                        <a:t>50-100万+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1E1E"/>
                          </a:solidFill>
                          <a:latin typeface="微软雅黑"/>
                        </a:defRPr>
                      </a:pPr>
                      <a:r>
                        <a:t>30-80万+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1E1E"/>
                          </a:solidFill>
                          <a:latin typeface="微软雅黑"/>
                        </a:defRPr>
                      </a:pPr>
                      <a:r>
                        <a:t>10-30万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A56DB"/>
                          </a:solidFill>
                          <a:latin typeface="微软雅黑"/>
                        </a:defRPr>
                      </a:pPr>
                      <a:r>
                        <a:t>免费/开源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</a:tr>
              <a:tr h="42222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1E1E"/>
                          </a:solidFill>
                          <a:latin typeface="微软雅黑"/>
                        </a:defRPr>
                      </a:pPr>
                      <a:r>
                        <a:t>需要硬件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1E1E"/>
                          </a:solidFill>
                          <a:latin typeface="微软雅黑"/>
                        </a:defRPr>
                      </a:pPr>
                      <a:r>
                        <a:t>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1E1E"/>
                          </a:solidFill>
                          <a:latin typeface="微软雅黑"/>
                        </a:defRPr>
                      </a:pPr>
                      <a:r>
                        <a:t>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1E1E"/>
                          </a:solidFill>
                          <a:latin typeface="微软雅黑"/>
                        </a:defRPr>
                      </a:pPr>
                      <a:r>
                        <a:t>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A56DB"/>
                          </a:solidFill>
                          <a:latin typeface="微软雅黑"/>
                        </a:defRPr>
                      </a:pPr>
                      <a:r>
                        <a:t>否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</a:tr>
              <a:tr h="42222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1E1E"/>
                          </a:solidFill>
                          <a:latin typeface="微软雅黑"/>
                        </a:defRPr>
                      </a:pPr>
                      <a:r>
                        <a:t>教学适用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1E1E"/>
                          </a:solidFill>
                          <a:latin typeface="微软雅黑"/>
                        </a:defRPr>
                      </a:pPr>
                      <a:r>
                        <a:t>低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1E1E"/>
                          </a:solidFill>
                          <a:latin typeface="微软雅黑"/>
                        </a:defRPr>
                      </a:pPr>
                      <a:r>
                        <a:t>低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1E1E"/>
                          </a:solidFill>
                          <a:latin typeface="微软雅黑"/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A56DB"/>
                          </a:solidFill>
                          <a:latin typeface="微软雅黑"/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</a:tr>
              <a:tr h="42222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1E1E"/>
                          </a:solidFill>
                          <a:latin typeface="微软雅黑"/>
                        </a:defRPr>
                      </a:pPr>
                      <a:r>
                        <a:t>仿真模式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1E1E"/>
                          </a:solidFill>
                          <a:latin typeface="微软雅黑"/>
                        </a:defRPr>
                      </a:pPr>
                      <a:r>
                        <a:t>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1E1E"/>
                          </a:solidFill>
                          <a:latin typeface="微软雅黑"/>
                        </a:defRPr>
                      </a:pPr>
                      <a:r>
                        <a:t>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1E1E"/>
                          </a:solidFill>
                          <a:latin typeface="微软雅黑"/>
                        </a:defRPr>
                      </a:pPr>
                      <a:r>
                        <a:t>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A56DB"/>
                          </a:solidFill>
                          <a:latin typeface="微软雅黑"/>
                        </a:defRPr>
                      </a:pPr>
                      <a:r>
                        <a:t>完整仿真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</a:tr>
              <a:tr h="42222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1E1E"/>
                          </a:solidFill>
                          <a:latin typeface="微软雅黑"/>
                        </a:defRPr>
                      </a:pPr>
                      <a:r>
                        <a:t>数据导出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1E1E"/>
                          </a:solidFill>
                          <a:latin typeface="微软雅黑"/>
                        </a:defRPr>
                      </a:pPr>
                      <a:r>
                        <a:t>专有格式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1E1E"/>
                          </a:solidFill>
                          <a:latin typeface="微软雅黑"/>
                        </a:defRPr>
                      </a:pPr>
                      <a:r>
                        <a:t>专有格式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1E1E"/>
                          </a:solidFill>
                          <a:latin typeface="微软雅黑"/>
                        </a:defRPr>
                      </a:pPr>
                      <a:r>
                        <a:t>Excel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A56DB"/>
                          </a:solidFill>
                          <a:latin typeface="微软雅黑"/>
                        </a:defRPr>
                      </a:pPr>
                      <a:r>
                        <a:t>CSV/Excel/PDF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</a:tr>
              <a:tr h="42222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1E1E"/>
                          </a:solidFill>
                          <a:latin typeface="微软雅黑"/>
                        </a:defRPr>
                      </a:pPr>
                      <a:r>
                        <a:t>状态机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1E1E"/>
                          </a:solidFill>
                          <a:latin typeface="微软雅黑"/>
                        </a:defRPr>
                      </a:pPr>
                      <a:r>
                        <a:t>部分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1E1E"/>
                          </a:solidFill>
                          <a:latin typeface="微软雅黑"/>
                        </a:defRPr>
                      </a:pPr>
                      <a:r>
                        <a:t>部分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1E1E"/>
                          </a:solidFill>
                          <a:latin typeface="微软雅黑"/>
                        </a:defRPr>
                      </a:pPr>
                      <a:r>
                        <a:t>部分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A56DB"/>
                          </a:solidFill>
                          <a:latin typeface="微软雅黑"/>
                        </a:defRPr>
                      </a:pPr>
                      <a:r>
                        <a:t>完整五状态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</a:tr>
              <a:tr h="422224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1E1E"/>
                          </a:solidFill>
                          <a:latin typeface="微软雅黑"/>
                        </a:defRPr>
                      </a:pPr>
                      <a:r>
                        <a:t>开源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1E1E"/>
                          </a:solidFill>
                          <a:latin typeface="微软雅黑"/>
                        </a:defRPr>
                      </a:pPr>
                      <a:r>
                        <a:t>否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1E1E"/>
                          </a:solidFill>
                          <a:latin typeface="微软雅黑"/>
                        </a:defRPr>
                      </a:pPr>
                      <a:r>
                        <a:t>否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1E1E"/>
                          </a:solidFill>
                          <a:latin typeface="微软雅黑"/>
                        </a:defRPr>
                      </a:pPr>
                      <a:r>
                        <a:t>否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A56DB"/>
                          </a:solidFill>
                          <a:latin typeface="微软雅黑"/>
                        </a:defRPr>
                      </a:pPr>
                      <a:r>
                        <a:t>是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0000" y="600000"/>
            <a:ext cx="3500000" cy="1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0" b="1">
                <a:solidFill>
                  <a:srgbClr val="1A56DB"/>
                </a:solidFill>
                <a:latin typeface="微软雅黑"/>
              </a:defRPr>
            </a:pPr>
            <a:r>
              <a:t>03</a:t>
            </a:r>
          </a:p>
        </p:txBody>
      </p:sp>
      <p:sp>
        <p:nvSpPr>
          <p:cNvPr id="3" name="Rectangle 2"/>
          <p:cNvSpPr/>
          <p:nvPr/>
        </p:nvSpPr>
        <p:spPr>
          <a:xfrm>
            <a:off x="400000" y="2000000"/>
            <a:ext cx="800000" cy="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0000" y="2150000"/>
            <a:ext cx="50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1E1E1E"/>
                </a:solidFill>
                <a:latin typeface="微软雅黑"/>
              </a:defRPr>
            </a:pPr>
            <a:r>
              <a:t>研究内容</a:t>
            </a:r>
          </a:p>
        </p:txBody>
      </p:sp>
      <p:sp>
        <p:nvSpPr>
          <p:cNvPr id="5" name="Rectangle 4"/>
          <p:cNvSpPr/>
          <p:nvPr/>
        </p:nvSpPr>
        <p:spPr>
          <a:xfrm>
            <a:off x="7850000" y="700000"/>
            <a:ext cx="0" cy="3600000"/>
          </a:xfrm>
          <a:prstGeom prst="rect">
            <a:avLst/>
          </a:prstGeom>
          <a:noFill/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0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50000" y="130000"/>
            <a:ext cx="200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/>
              </a:defRPr>
            </a:pPr>
            <a:r>
              <a:t>03 研究内容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0000" y="350000"/>
            <a:ext cx="85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1E1E1E"/>
                </a:solidFill>
                <a:latin typeface="微软雅黑"/>
              </a:defRPr>
            </a:pPr>
            <a:r>
              <a:t>研究内容总览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350000" y="780000"/>
            <a:ext cx="8400000" cy="2500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00000" y="4900000"/>
            <a:ext cx="6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微软雅黑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0000" y="900000"/>
            <a:ext cx="25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1A56DB"/>
                </a:solidFill>
                <a:latin typeface="微软雅黑"/>
              </a:defRPr>
            </a:pPr>
            <a:r>
              <a:t>1. 仿真温度引擎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000" y="1160000"/>
            <a:ext cx="845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19"/>
              </a:spcAft>
              <a:defRPr sz="1100">
                <a:solidFill>
                  <a:srgbClr val="6B7280"/>
                </a:solidFill>
                <a:latin typeface="微软雅黑"/>
              </a:defRPr>
            </a:pPr>
            <a:r>
              <a:t>5通道温度仿真算法（炉温1/2、表面温、中心温、校准温），复现升温→稳定→记录→降温四阶段，每800ms更新一次。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350000" y="1520000"/>
            <a:ext cx="8450000" cy="800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0000" y="1580000"/>
            <a:ext cx="25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1A56DB"/>
                </a:solidFill>
                <a:latin typeface="微软雅黑"/>
              </a:defRPr>
            </a:pPr>
            <a:r>
              <a:t>2. 试验状态机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000" y="1840000"/>
            <a:ext cx="845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19"/>
              </a:spcAft>
              <a:defRPr sz="1100">
                <a:solidFill>
                  <a:srgbClr val="6B7280"/>
                </a:solidFill>
                <a:latin typeface="微软雅黑"/>
              </a:defRPr>
            </a:pPr>
            <a:r>
              <a:t>五状态有限状态机（Idle/Preparing/Ready/Recording/Complete），严格管理试验流程各阶段转换，按钮状态智能跟随。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0000" y="2200000"/>
            <a:ext cx="8450000" cy="800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0000" y="2260000"/>
            <a:ext cx="25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1A56DB"/>
                </a:solidFill>
                <a:latin typeface="微软雅黑"/>
              </a:defRPr>
            </a:pPr>
            <a:r>
              <a:t>3. 数据采集与存储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000" y="2520000"/>
            <a:ext cx="845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19"/>
              </a:spcAft>
              <a:defRPr sz="1100">
                <a:solidFill>
                  <a:srgbClr val="6B7280"/>
                </a:solidFill>
                <a:latin typeface="微软雅黑"/>
              </a:defRPr>
            </a:pPr>
            <a:r>
              <a:t>800ms周期数据采集；SQLite数据库（6张表）存储试验记录；CSV文件冗余备份每秒温度数据。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0000" y="2880000"/>
            <a:ext cx="8450000" cy="800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0000" y="2940000"/>
            <a:ext cx="25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1A56DB"/>
                </a:solidFill>
                <a:latin typeface="微软雅黑"/>
              </a:defRPr>
            </a:pPr>
            <a:r>
              <a:t>4. 温漂计算与判定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000" y="3200000"/>
            <a:ext cx="845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19"/>
              </a:spcAft>
              <a:defRPr sz="1100">
                <a:solidFill>
                  <a:srgbClr val="6B7280"/>
                </a:solidFill>
                <a:latin typeface="微软雅黑"/>
              </a:defRPr>
            </a:pPr>
            <a:r>
              <a:t>基于MathNet.Numerics线性回归的温漂自动计算，将ISO标准的「稳定」概念转化为定量数学判定模型。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0000" y="3560000"/>
            <a:ext cx="8450000" cy="800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0000" y="3620000"/>
            <a:ext cx="25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1A56DB"/>
                </a:solidFill>
                <a:latin typeface="微软雅黑"/>
              </a:defRPr>
            </a:pPr>
            <a:r>
              <a:t>5. 报告生成系统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000" y="3880000"/>
            <a:ext cx="845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19"/>
              </a:spcAft>
              <a:defRPr sz="1100">
                <a:solidFill>
                  <a:srgbClr val="6B7280"/>
                </a:solidFill>
                <a:latin typeface="微软雅黑"/>
              </a:defRPr>
            </a:pPr>
            <a:r>
              <a:t>支持CSV/Excel/PDF三种格式导出。自动计算失重率、温升等关键指标，嵌入温度曲线图。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0000" y="4240000"/>
            <a:ext cx="8450000" cy="800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0000" y="4300000"/>
            <a:ext cx="25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1A56DB"/>
                </a:solidFill>
                <a:latin typeface="微软雅黑"/>
              </a:defRPr>
            </a:pPr>
            <a:r>
              <a:t>6. 用户界面系统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0000" y="4560000"/>
            <a:ext cx="845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19"/>
              </a:spcAft>
              <a:defRPr sz="1100">
                <a:solidFill>
                  <a:srgbClr val="6B7280"/>
                </a:solidFill>
                <a:latin typeface="微软雅黑"/>
              </a:defRPr>
            </a:pPr>
            <a:r>
              <a:t>WinForms图形化界面：实时温度曲线(OxyPlot)、系统消息日志、历史记录查询、设备校准等功能。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0000" y="600000"/>
            <a:ext cx="3500000" cy="1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0" b="1">
                <a:solidFill>
                  <a:srgbClr val="1A56DB"/>
                </a:solidFill>
                <a:latin typeface="微软雅黑"/>
              </a:defRPr>
            </a:pPr>
            <a:r>
              <a:t>04</a:t>
            </a:r>
          </a:p>
        </p:txBody>
      </p:sp>
      <p:sp>
        <p:nvSpPr>
          <p:cNvPr id="3" name="Rectangle 2"/>
          <p:cNvSpPr/>
          <p:nvPr/>
        </p:nvSpPr>
        <p:spPr>
          <a:xfrm>
            <a:off x="400000" y="2000000"/>
            <a:ext cx="800000" cy="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0000" y="2150000"/>
            <a:ext cx="50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1E1E1E"/>
                </a:solidFill>
                <a:latin typeface="微软雅黑"/>
              </a:defRPr>
            </a:pPr>
            <a:r>
              <a:t>研究路线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7850000" y="700000"/>
            <a:ext cx="0" cy="3600000"/>
          </a:xfrm>
          <a:prstGeom prst="rect">
            <a:avLst/>
          </a:prstGeom>
          <a:noFill/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0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50000" y="130000"/>
            <a:ext cx="200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/>
              </a:defRPr>
            </a:pPr>
            <a:r>
              <a:t>04 研究路线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0000" y="350000"/>
            <a:ext cx="85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1E1E1E"/>
                </a:solidFill>
                <a:latin typeface="微软雅黑"/>
              </a:defRPr>
            </a:pPr>
            <a:r>
              <a:t>技术路线图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350000" y="780000"/>
            <a:ext cx="8400000" cy="2500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00000" y="4900000"/>
            <a:ext cx="6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微软雅黑"/>
              </a:defRPr>
            </a:pPr>
            <a: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350000" y="1100000"/>
            <a:ext cx="1950000" cy="2800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0000" y="1220000"/>
            <a:ext cx="17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CCDDFF"/>
                </a:solidFill>
                <a:latin typeface="微软雅黑"/>
              </a:defRPr>
            </a:pPr>
            <a:r>
              <a:t>阶段一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000" y="1450000"/>
            <a:ext cx="175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微软雅黑"/>
              </a:defRPr>
            </a:pPr>
            <a:r>
              <a:t>需求分析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000" y="1950000"/>
            <a:ext cx="1750000" cy="1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80"/>
              </a:spcAft>
              <a:defRPr sz="1300">
                <a:solidFill>
                  <a:srgbClr val="FFFFFF"/>
                </a:solidFill>
                <a:latin typeface="微软雅黑"/>
              </a:defRPr>
            </a:pPr>
            <a:r>
              <a:t>文献调研</a:t>
            </a:r>
          </a:p>
          <a:p>
            <a:pPr algn="ctr">
              <a:spcAft>
                <a:spcPts val="780"/>
              </a:spcAft>
              <a:defRPr sz="1300">
                <a:solidFill>
                  <a:srgbClr val="FFFFFF"/>
                </a:solidFill>
                <a:latin typeface="微软雅黑"/>
              </a:defRPr>
            </a:pPr>
            <a:r>
              <a:t>标准解读</a:t>
            </a:r>
          </a:p>
          <a:p>
            <a:pPr algn="ctr">
              <a:spcAft>
                <a:spcPts val="780"/>
              </a:spcAft>
              <a:defRPr sz="1300">
                <a:solidFill>
                  <a:srgbClr val="FFFFFF"/>
                </a:solidFill>
                <a:latin typeface="微软雅黑"/>
              </a:defRPr>
            </a:pPr>
            <a:r>
              <a:t>需求梳理</a:t>
            </a:r>
          </a:p>
          <a:p>
            <a:pPr algn="ctr">
              <a:spcAft>
                <a:spcPts val="780"/>
              </a:spcAft>
              <a:defRPr sz="1300">
                <a:solidFill>
                  <a:srgbClr val="FFFFFF"/>
                </a:solidFill>
                <a:latin typeface="微软雅黑"/>
              </a:defRPr>
            </a:pPr>
            <a:r>
              <a:t>竞品分析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00000" y="2250000"/>
            <a:ext cx="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6B7280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00000" y="1100000"/>
            <a:ext cx="1950000" cy="28000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00000" y="1220000"/>
            <a:ext cx="17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CCDDFF"/>
                </a:solidFill>
                <a:latin typeface="微软雅黑"/>
              </a:defRPr>
            </a:pPr>
            <a:r>
              <a:t>阶段二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0000" y="1450000"/>
            <a:ext cx="175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微软雅黑"/>
              </a:defRPr>
            </a:pPr>
            <a:r>
              <a:t>系统设计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0000" y="1950000"/>
            <a:ext cx="1750000" cy="1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80"/>
              </a:spcAft>
              <a:defRPr sz="1300">
                <a:solidFill>
                  <a:srgbClr val="FFFFFF"/>
                </a:solidFill>
                <a:latin typeface="微软雅黑"/>
              </a:defRPr>
            </a:pPr>
            <a:r>
              <a:t>架构设计</a:t>
            </a:r>
          </a:p>
          <a:p>
            <a:pPr algn="ctr">
              <a:spcAft>
                <a:spcPts val="780"/>
              </a:spcAft>
              <a:defRPr sz="1300">
                <a:solidFill>
                  <a:srgbClr val="FFFFFF"/>
                </a:solidFill>
                <a:latin typeface="微软雅黑"/>
              </a:defRPr>
            </a:pPr>
            <a:r>
              <a:t>数据库设计</a:t>
            </a:r>
          </a:p>
          <a:p>
            <a:pPr algn="ctr">
              <a:spcAft>
                <a:spcPts val="780"/>
              </a:spcAft>
              <a:defRPr sz="1300">
                <a:solidFill>
                  <a:srgbClr val="FFFFFF"/>
                </a:solidFill>
                <a:latin typeface="微软雅黑"/>
              </a:defRPr>
            </a:pPr>
            <a:r>
              <a:t>状态机设计</a:t>
            </a:r>
          </a:p>
          <a:p>
            <a:pPr algn="ctr">
              <a:spcAft>
                <a:spcPts val="780"/>
              </a:spcAft>
              <a:defRPr sz="1300">
                <a:solidFill>
                  <a:srgbClr val="FFFFFF"/>
                </a:solidFill>
                <a:latin typeface="微软雅黑"/>
              </a:defRPr>
            </a:pPr>
            <a:r>
              <a:t>接口定义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0000" y="2250000"/>
            <a:ext cx="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6B7280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50000" y="1100000"/>
            <a:ext cx="1950000" cy="280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0000" y="1220000"/>
            <a:ext cx="17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CCDDFF"/>
                </a:solidFill>
                <a:latin typeface="微软雅黑"/>
              </a:defRPr>
            </a:pPr>
            <a:r>
              <a:t>阶段三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0000" y="1450000"/>
            <a:ext cx="175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微软雅黑"/>
              </a:defRPr>
            </a:pPr>
            <a:r>
              <a:t>编码实现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0000" y="1950000"/>
            <a:ext cx="1750000" cy="1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80"/>
              </a:spcAft>
              <a:defRPr sz="1300">
                <a:solidFill>
                  <a:srgbClr val="FFFFFF"/>
                </a:solidFill>
                <a:latin typeface="微软雅黑"/>
              </a:defRPr>
            </a:pPr>
            <a:r>
              <a:t>A:基础设施</a:t>
            </a:r>
          </a:p>
          <a:p>
            <a:pPr algn="ctr">
              <a:spcAft>
                <a:spcPts val="780"/>
              </a:spcAft>
              <a:defRPr sz="1300">
                <a:solidFill>
                  <a:srgbClr val="FFFFFF"/>
                </a:solidFill>
                <a:latin typeface="微软雅黑"/>
              </a:defRPr>
            </a:pPr>
            <a:r>
              <a:t>B:核心业务</a:t>
            </a:r>
          </a:p>
          <a:p>
            <a:pPr algn="ctr">
              <a:spcAft>
                <a:spcPts val="780"/>
              </a:spcAft>
              <a:defRPr sz="1300">
                <a:solidFill>
                  <a:srgbClr val="FFFFFF"/>
                </a:solidFill>
                <a:latin typeface="微软雅黑"/>
              </a:defRPr>
            </a:pPr>
            <a:r>
              <a:t>C:UI+导出</a:t>
            </a:r>
          </a:p>
          <a:p>
            <a:pPr algn="ctr">
              <a:spcAft>
                <a:spcPts val="780"/>
              </a:spcAft>
              <a:defRPr sz="1300">
                <a:solidFill>
                  <a:srgbClr val="FFFFFF"/>
                </a:solidFill>
                <a:latin typeface="微软雅黑"/>
              </a:defRPr>
            </a:pPr>
            <a:r>
              <a:t>分层并行推进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0000" y="2250000"/>
            <a:ext cx="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6B7280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00000" y="1100000"/>
            <a:ext cx="1950000" cy="280000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0000" y="1220000"/>
            <a:ext cx="17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CCDDFF"/>
                </a:solidFill>
                <a:latin typeface="微软雅黑"/>
              </a:defRPr>
            </a:pPr>
            <a:r>
              <a:t>阶段四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0000" y="1450000"/>
            <a:ext cx="175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微软雅黑"/>
              </a:defRPr>
            </a:pPr>
            <a:r>
              <a:t>测试验证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0000" y="1950000"/>
            <a:ext cx="1750000" cy="1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80"/>
              </a:spcAft>
              <a:defRPr sz="1300">
                <a:solidFill>
                  <a:srgbClr val="FFFFFF"/>
                </a:solidFill>
                <a:latin typeface="微软雅黑"/>
              </a:defRPr>
            </a:pPr>
            <a:r>
              <a:t>功能测试</a:t>
            </a:r>
          </a:p>
          <a:p>
            <a:pPr algn="ctr">
              <a:spcAft>
                <a:spcPts val="780"/>
              </a:spcAft>
              <a:defRPr sz="1300">
                <a:solidFill>
                  <a:srgbClr val="FFFFFF"/>
                </a:solidFill>
                <a:latin typeface="微软雅黑"/>
              </a:defRPr>
            </a:pPr>
            <a:r>
              <a:t>仿真场景验证</a:t>
            </a:r>
          </a:p>
          <a:p>
            <a:pPr algn="ctr">
              <a:spcAft>
                <a:spcPts val="780"/>
              </a:spcAft>
              <a:defRPr sz="1300">
                <a:solidFill>
                  <a:srgbClr val="FFFFFF"/>
                </a:solidFill>
                <a:latin typeface="微软雅黑"/>
              </a:defRPr>
            </a:pPr>
            <a:r>
              <a:t>报告样例确认</a:t>
            </a:r>
          </a:p>
          <a:p>
            <a:pPr algn="ctr">
              <a:spcAft>
                <a:spcPts val="780"/>
              </a:spcAft>
              <a:defRPr sz="1300">
                <a:solidFill>
                  <a:srgbClr val="FFFFFF"/>
                </a:solidFill>
                <a:latin typeface="微软雅黑"/>
              </a:defRPr>
            </a:pPr>
            <a:r>
              <a:t>Bug修复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0000" y="4150000"/>
            <a:ext cx="845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微软雅黑"/>
              </a:defRPr>
            </a:pPr>
            <a:r>
              <a:t>团队协作模式：Person A（基础设施层，最先完成）→ Person B（核心业务层）→ Person C（UI+导出层），下层为上层提供接口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0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50000" y="130000"/>
            <a:ext cx="200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/>
              </a:defRPr>
            </a:pPr>
            <a:r>
              <a:t>04 研究路线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0000" y="350000"/>
            <a:ext cx="85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1E1E1E"/>
                </a:solidFill>
                <a:latin typeface="微软雅黑"/>
              </a:defRPr>
            </a:pPr>
            <a:r>
              <a:t>系统架构与分工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350000" y="780000"/>
            <a:ext cx="8400000" cy="2500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00000" y="4900000"/>
            <a:ext cx="6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微软雅黑"/>
              </a:defRPr>
            </a:pPr>
            <a: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350000" y="1050000"/>
            <a:ext cx="8450000" cy="95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1130000"/>
            <a:ext cx="40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微软雅黑"/>
              </a:defRPr>
            </a:pPr>
            <a:r>
              <a:t>Person C — UI层 + 导出层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0000" y="1430000"/>
            <a:ext cx="800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DDEEFF"/>
                </a:solidFill>
                <a:latin typeface="微软雅黑"/>
              </a:defRPr>
            </a:pPr>
            <a:r>
              <a:t>LoginForm / MainForm / 子窗体 / ExportService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0000" y="1650000"/>
            <a:ext cx="800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AACCEE"/>
                </a:solidFill>
                <a:latin typeface="微软雅黑"/>
              </a:defRPr>
            </a:pPr>
            <a:r>
              <a:t>依赖 Person B 的事件 + Person A 的 DbHelper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0000" y="2150000"/>
            <a:ext cx="8450000" cy="9500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2230000"/>
            <a:ext cx="40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微软雅黑"/>
              </a:defRPr>
            </a:pPr>
            <a:r>
              <a:t>Person B — 核心业务层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0000" y="2530000"/>
            <a:ext cx="800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DDEEFF"/>
                </a:solidFill>
                <a:latin typeface="微软雅黑"/>
              </a:defRPr>
            </a:pPr>
            <a:r>
              <a:t>TestController / SensorSimulator / DaqWorker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0000" y="2750000"/>
            <a:ext cx="800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AACCEE"/>
                </a:solidFill>
                <a:latin typeface="微软雅黑"/>
              </a:defRPr>
            </a:pPr>
            <a:r>
              <a:t>依赖 Person A 的 DbHelper + Model + AppContext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0000" y="3250000"/>
            <a:ext cx="8450000" cy="950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3330000"/>
            <a:ext cx="40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微软雅黑"/>
              </a:defRPr>
            </a:pPr>
            <a:r>
              <a:t>Person A — 基础设施层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0000" y="3630000"/>
            <a:ext cx="800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DDEEFF"/>
                </a:solidFill>
                <a:latin typeface="微软雅黑"/>
              </a:defRPr>
            </a:pPr>
            <a:r>
              <a:t>Model / DbHelper / AppContext / Config / Serilog日志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0000" y="3850000"/>
            <a:ext cx="800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AACCEE"/>
                </a:solidFill>
                <a:latin typeface="微软雅黑"/>
              </a:defRPr>
            </a:pPr>
            <a:r>
              <a:t>依赖：无（最底层，最先完成）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0000" y="4300000"/>
            <a:ext cx="8450000" cy="7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000" y="4360000"/>
            <a:ext cx="82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1A56DB"/>
                </a:solidFill>
                <a:latin typeface="微软雅黑"/>
              </a:defRPr>
            </a:pPr>
            <a:r>
              <a:t>开发顺序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000" y="4620000"/>
            <a:ext cx="825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Step 1: Person A → Model类 + DbHelper + AppContext + 日志    →    Step 2: Person B → 状态机 + 仿真引擎 + DaqWorker    →    Step 3: Person C → 全部UI + 导出 + 查询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0000" y="600000"/>
            <a:ext cx="3500000" cy="1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0" b="1">
                <a:solidFill>
                  <a:srgbClr val="1A56DB"/>
                </a:solidFill>
                <a:latin typeface="微软雅黑"/>
              </a:defRPr>
            </a:pPr>
            <a:r>
              <a:t>05</a:t>
            </a:r>
          </a:p>
        </p:txBody>
      </p:sp>
      <p:sp>
        <p:nvSpPr>
          <p:cNvPr id="3" name="Rectangle 2"/>
          <p:cNvSpPr/>
          <p:nvPr/>
        </p:nvSpPr>
        <p:spPr>
          <a:xfrm>
            <a:off x="400000" y="2000000"/>
            <a:ext cx="800000" cy="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0000" y="2150000"/>
            <a:ext cx="50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1E1E1E"/>
                </a:solidFill>
                <a:latin typeface="微软雅黑"/>
              </a:defRPr>
            </a:pPr>
            <a:r>
              <a:t>软件需求分析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7850000" y="700000"/>
            <a:ext cx="0" cy="3600000"/>
          </a:xfrm>
          <a:prstGeom prst="rect">
            <a:avLst/>
          </a:prstGeom>
          <a:noFill/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0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50000" y="130000"/>
            <a:ext cx="200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/>
              </a:defRPr>
            </a:pPr>
            <a:r>
              <a:t>05 软件需求分析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0000" y="350000"/>
            <a:ext cx="85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1E1E1E"/>
                </a:solidFill>
                <a:latin typeface="微软雅黑"/>
              </a:defRPr>
            </a:pPr>
            <a:r>
              <a:t>功能需求</a:t>
            </a:r>
          </a:p>
        </p:txBody>
      </p:sp>
      <p:sp>
        <p:nvSpPr>
          <p:cNvPr id="5" name="Rectangle 4"/>
          <p:cNvSpPr/>
          <p:nvPr/>
        </p:nvSpPr>
        <p:spPr>
          <a:xfrm>
            <a:off x="350000" y="780000"/>
            <a:ext cx="8400000" cy="2500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00000" y="4900000"/>
            <a:ext cx="6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微软雅黑"/>
              </a:defRPr>
            </a:pPr>
            <a: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350000" y="900000"/>
            <a:ext cx="4200000" cy="68000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0000" y="960000"/>
            <a:ext cx="400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1A56DB"/>
                </a:solidFill>
                <a:latin typeface="微软雅黑"/>
              </a:defRPr>
            </a:pPr>
            <a:r>
              <a:t>登录认证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000" y="122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角色选择（管理员/试验员）+ 密码验证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0000" y="900000"/>
            <a:ext cx="4200000" cy="68000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50000" y="960000"/>
            <a:ext cx="400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1A56DB"/>
                </a:solidFill>
                <a:latin typeface="微软雅黑"/>
              </a:defRPr>
            </a:pPr>
            <a:r>
              <a:t>新建试验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50000" y="122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填写样品信息、环境参数、时长模式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0000" y="1680000"/>
            <a:ext cx="4200000" cy="68000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000" y="1740000"/>
            <a:ext cx="400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1A56DB"/>
                </a:solidFill>
                <a:latin typeface="微软雅黑"/>
              </a:defRPr>
            </a:pPr>
            <a:r>
              <a:t>仿真温度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000" y="20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5通道仿真，800ms更新，四阶段切换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0000" y="1680000"/>
            <a:ext cx="4200000" cy="68000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50000" y="1740000"/>
            <a:ext cx="400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1A56DB"/>
                </a:solidFill>
                <a:latin typeface="微软雅黑"/>
              </a:defRPr>
            </a:pPr>
            <a:r>
              <a:t>试验状态机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50000" y="20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五状态流转，条件判定，按钮智能控制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0000" y="2460000"/>
            <a:ext cx="4200000" cy="68000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000" y="2520000"/>
            <a:ext cx="400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1A56DB"/>
                </a:solidFill>
                <a:latin typeface="微软雅黑"/>
              </a:defRPr>
            </a:pPr>
            <a:r>
              <a:t>实时显示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000" y="278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温度LED显示、计时器、温漂、OxyPlot曲线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0000" y="2460000"/>
            <a:ext cx="4200000" cy="68000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50000" y="2520000"/>
            <a:ext cx="400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1A56DB"/>
                </a:solidFill>
                <a:latin typeface="微软雅黑"/>
              </a:defRPr>
            </a:pPr>
            <a:r>
              <a:t>按钮控制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50000" y="278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6个按钮根据状态自动启用/禁用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0000" y="3240000"/>
            <a:ext cx="4200000" cy="68000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0000" y="3300000"/>
            <a:ext cx="400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1A56DB"/>
                </a:solidFill>
                <a:latin typeface="微软雅黑"/>
              </a:defRPr>
            </a:pPr>
            <a:r>
              <a:t>现象记录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0000" y="356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火焰信息、试验后质量，自动计算失重率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50000" y="3240000"/>
            <a:ext cx="4200000" cy="68000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50000" y="3300000"/>
            <a:ext cx="400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1A56DB"/>
                </a:solidFill>
                <a:latin typeface="微软雅黑"/>
              </a:defRPr>
            </a:pPr>
            <a:r>
              <a:t>数据导出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50000" y="356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CSV/Excel(多Sheet+图表)/PDF报告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0000" y="4020000"/>
            <a:ext cx="4200000" cy="68000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0000" y="4080000"/>
            <a:ext cx="400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1A56DB"/>
                </a:solidFill>
                <a:latin typeface="微软雅黑"/>
              </a:defRPr>
            </a:pPr>
            <a:r>
              <a:t>历史查询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0000" y="434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按日期/样品/操作员查询，支持详情查看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50000" y="4020000"/>
            <a:ext cx="4200000" cy="68000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50000" y="4080000"/>
            <a:ext cx="400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1A56DB"/>
                </a:solidFill>
                <a:latin typeface="微软雅黑"/>
              </a:defRPr>
            </a:pPr>
            <a:r>
              <a:t>设备校准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50000" y="434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9点炉壁校准 + 中心轴扫描 + 校准历史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0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50000" y="130000"/>
            <a:ext cx="200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/>
              </a:defRPr>
            </a:pPr>
            <a:r>
              <a:t>05 软件需求分析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0000" y="350000"/>
            <a:ext cx="85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1E1E1E"/>
                </a:solidFill>
                <a:latin typeface="微软雅黑"/>
              </a:defRPr>
            </a:pPr>
            <a:r>
              <a:t>非功能需求与范围界定</a:t>
            </a:r>
          </a:p>
        </p:txBody>
      </p:sp>
      <p:sp>
        <p:nvSpPr>
          <p:cNvPr id="5" name="Rectangle 4"/>
          <p:cNvSpPr/>
          <p:nvPr/>
        </p:nvSpPr>
        <p:spPr>
          <a:xfrm>
            <a:off x="350000" y="780000"/>
            <a:ext cx="8400000" cy="2500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00000" y="4900000"/>
            <a:ext cx="6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微软雅黑"/>
              </a:defRPr>
            </a:pPr>
            <a: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350000" y="900000"/>
            <a:ext cx="4200000" cy="39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0000" y="960000"/>
            <a:ext cx="400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1A56DB"/>
                </a:solidFill>
                <a:latin typeface="微软雅黑"/>
              </a:defRPr>
            </a:pPr>
            <a:r>
              <a:t>非功能需求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000" y="1220000"/>
            <a:ext cx="4000000" cy="3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• 可靠性：仿真温度波动 ≤ 0.5°C（标准差）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• 实时性：温度更新周期 ≤ 800ms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• 可用性：图形化界面，按钮状态智能控制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• 可维护性：三层分层架构，职责清晰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• 可扩展性：支持自定义时长、仿真参数配置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• 兼容性：Windows 10/11，无需联网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• 数据安全：SQLite本地存储，参数化SQL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• 跨线程安全：后台采集 + UI线程安全更新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• 技术栈：.NET 8 + WinForms + SQLite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• 部署：单文件运行，无需额外数据库服务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00000" y="900000"/>
            <a:ext cx="4200000" cy="39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00000" y="960000"/>
            <a:ext cx="400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EF4444"/>
                </a:solidFill>
                <a:latin typeface="微软雅黑"/>
              </a:defRPr>
            </a:pPr>
            <a:r>
              <a:t>明确不实现的功能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00000" y="1220000"/>
            <a:ext cx="4000000" cy="3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❌ 真实串口/Modbus通信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   无硬件设备，仿真引擎替代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❌ 真实PID控制算法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   仿真模式下不需要闭环控制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❌ 摄像头火焰检测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   需要额外硬件支持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❌ 多炉同时控制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   仅实现单炉仿真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❌ 网络/云端同步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   纯本地桌面应用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❌ 移动端适配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   仅Windows桌面端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0000" y="600000"/>
            <a:ext cx="3500000" cy="1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0" b="1">
                <a:solidFill>
                  <a:srgbClr val="1A56DB"/>
                </a:solidFill>
                <a:latin typeface="微软雅黑"/>
              </a:defRPr>
            </a:pPr>
            <a:r>
              <a:t>06</a:t>
            </a:r>
          </a:p>
        </p:txBody>
      </p:sp>
      <p:sp>
        <p:nvSpPr>
          <p:cNvPr id="3" name="Rectangle 2"/>
          <p:cNvSpPr/>
          <p:nvPr/>
        </p:nvSpPr>
        <p:spPr>
          <a:xfrm>
            <a:off x="400000" y="2000000"/>
            <a:ext cx="800000" cy="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0000" y="2150000"/>
            <a:ext cx="50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1E1E1E"/>
                </a:solidFill>
                <a:latin typeface="微软雅黑"/>
              </a:defRPr>
            </a:pPr>
            <a:r>
              <a:t>软件概要设计</a:t>
            </a:r>
          </a:p>
        </p:txBody>
      </p:sp>
      <p:sp>
        <p:nvSpPr>
          <p:cNvPr id="5" name="Rectangle 4"/>
          <p:cNvSpPr/>
          <p:nvPr/>
        </p:nvSpPr>
        <p:spPr>
          <a:xfrm>
            <a:off x="7850000" y="700000"/>
            <a:ext cx="0" cy="3600000"/>
          </a:xfrm>
          <a:prstGeom prst="rect">
            <a:avLst/>
          </a:prstGeom>
          <a:noFill/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0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50000" y="130000"/>
            <a:ext cx="200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/>
              </a:defRPr>
            </a:pPr>
            <a:r>
              <a:t>06 软件概要设计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0000" y="350000"/>
            <a:ext cx="85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1E1E1E"/>
                </a:solidFill>
                <a:latin typeface="微软雅黑"/>
              </a:defRPr>
            </a:pPr>
            <a:r>
              <a:t>系统架构设计</a:t>
            </a:r>
          </a:p>
        </p:txBody>
      </p:sp>
      <p:sp>
        <p:nvSpPr>
          <p:cNvPr id="5" name="Rectangle 4"/>
          <p:cNvSpPr/>
          <p:nvPr/>
        </p:nvSpPr>
        <p:spPr>
          <a:xfrm>
            <a:off x="350000" y="780000"/>
            <a:ext cx="8400000" cy="2500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00000" y="4900000"/>
            <a:ext cx="6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微软雅黑"/>
              </a:defRPr>
            </a:pPr>
            <a:r>
              <a:t>18</a:t>
            </a:r>
          </a:p>
        </p:txBody>
      </p:sp>
      <p:sp>
        <p:nvSpPr>
          <p:cNvPr id="7" name="Rectangle 6"/>
          <p:cNvSpPr/>
          <p:nvPr/>
        </p:nvSpPr>
        <p:spPr>
          <a:xfrm>
            <a:off x="350000" y="950000"/>
            <a:ext cx="8450000" cy="75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1010000"/>
            <a:ext cx="300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微软雅黑"/>
              </a:defRPr>
            </a:pPr>
            <a:r>
              <a:t>界面层 (Forms)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0000" y="1270000"/>
            <a:ext cx="80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>
                <a:solidFill>
                  <a:srgbClr val="DDEEFF"/>
                </a:solidFill>
                <a:latin typeface="微软雅黑"/>
              </a:defRPr>
            </a:pPr>
            <a:r>
              <a:t>LoginForm | MainForm | NewExperimentDialog | ExperimentRecordDialog | ChartPanel | CalibrationDialog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0000" y="1800000"/>
            <a:ext cx="8450000" cy="7500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1860000"/>
            <a:ext cx="300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微软雅黑"/>
              </a:defRPr>
            </a:pPr>
            <a:r>
              <a:t>核心业务层 (Core)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0000" y="2120000"/>
            <a:ext cx="80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>
                <a:solidFill>
                  <a:srgbClr val="DDEEFF"/>
                </a:solidFill>
                <a:latin typeface="微软雅黑"/>
              </a:defRPr>
            </a:pPr>
            <a:r>
              <a:t>TestController（状态机）| SensorSimulator（仿真引擎）| DaqWorker（800ms定时采集+CSV写入）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0000" y="2650000"/>
            <a:ext cx="8450000" cy="75000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2710000"/>
            <a:ext cx="300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微软雅黑"/>
              </a:defRPr>
            </a:pPr>
            <a:r>
              <a:t>服务层 (Services)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0000" y="2970000"/>
            <a:ext cx="80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>
                <a:solidFill>
                  <a:srgbClr val="DDEEFF"/>
                </a:solidFill>
                <a:latin typeface="微软雅黑"/>
              </a:defRPr>
            </a:pPr>
            <a:r>
              <a:t>ExportService（CSV / Excel / PDF 报告导出）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0000" y="3500000"/>
            <a:ext cx="8450000" cy="750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000" y="3560000"/>
            <a:ext cx="300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微软雅黑"/>
              </a:defRPr>
            </a:pPr>
            <a:r>
              <a:t>数据层 (Data + Models)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0000" y="3820000"/>
            <a:ext cx="80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>
                <a:solidFill>
                  <a:srgbClr val="DDEEFF"/>
                </a:solidFill>
                <a:latin typeface="微软雅黑"/>
              </a:defRPr>
            </a:pPr>
            <a:r>
              <a:t>DbHelper（SQLite参数化SQL封装）| 6个Model实体类 | SQLite数据库 + CSV文件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0000" y="4350000"/>
            <a:ext cx="8450000" cy="500000"/>
          </a:xfrm>
          <a:prstGeom prst="rect">
            <a:avLst/>
          </a:prstGeom>
          <a:solidFill>
            <a:srgbClr val="475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4400000"/>
            <a:ext cx="80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微软雅黑"/>
              </a:defRPr>
            </a:pPr>
            <a:r>
              <a:t>全局层 (Config)：AppContext 单例持有所有核心对象 | AppConfig 配置管理 | Serilog 滚动日志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0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50000" y="130000"/>
            <a:ext cx="200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/>
              </a:defRPr>
            </a:pPr>
            <a:r>
              <a:t>06 软件概要设计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0000" y="350000"/>
            <a:ext cx="85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1E1E1E"/>
                </a:solidFill>
                <a:latin typeface="微软雅黑"/>
              </a:defRPr>
            </a:pPr>
            <a:r>
              <a:t>数据库设计</a:t>
            </a:r>
          </a:p>
        </p:txBody>
      </p:sp>
      <p:sp>
        <p:nvSpPr>
          <p:cNvPr id="5" name="Rectangle 4"/>
          <p:cNvSpPr/>
          <p:nvPr/>
        </p:nvSpPr>
        <p:spPr>
          <a:xfrm>
            <a:off x="350000" y="780000"/>
            <a:ext cx="8400000" cy="2500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00000" y="4900000"/>
            <a:ext cx="6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微软雅黑"/>
              </a:defRPr>
            </a:pPr>
            <a:r>
              <a:t>19</a:t>
            </a:r>
          </a:p>
        </p:txBody>
      </p:sp>
      <p:sp>
        <p:nvSpPr>
          <p:cNvPr id="7" name="Rectangle 6"/>
          <p:cNvSpPr/>
          <p:nvPr/>
        </p:nvSpPr>
        <p:spPr>
          <a:xfrm>
            <a:off x="350000" y="900000"/>
            <a:ext cx="4200000" cy="110000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0000" y="960000"/>
            <a:ext cx="400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1A56DB"/>
                </a:solidFill>
                <a:latin typeface="微软雅黑"/>
              </a:defRPr>
            </a:pPr>
            <a:r>
              <a:t>operators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000" y="1220000"/>
            <a:ext cx="40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操作员表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userid, username, pwd, usertype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0000" y="900000"/>
            <a:ext cx="4200000" cy="110000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50000" y="960000"/>
            <a:ext cx="400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1A56DB"/>
                </a:solidFill>
                <a:latin typeface="微软雅黑"/>
              </a:defRPr>
            </a:pPr>
            <a:r>
              <a:t>productmaster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50000" y="1220000"/>
            <a:ext cx="40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样品信息表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productid, productname, specific, diameter, height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0000" y="2150000"/>
            <a:ext cx="4200000" cy="110000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000" y="2210000"/>
            <a:ext cx="400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1A56DB"/>
                </a:solidFill>
                <a:latin typeface="微软雅黑"/>
              </a:defRPr>
            </a:pPr>
            <a:r>
              <a:t>testmaster 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000" y="2470000"/>
            <a:ext cx="40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试验记录表（核心）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productid+testid 联合主键，约40字段，含温度/质量/时长/判定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0000" y="2150000"/>
            <a:ext cx="4200000" cy="110000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50000" y="2210000"/>
            <a:ext cx="400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1A56DB"/>
                </a:solidFill>
                <a:latin typeface="微软雅黑"/>
              </a:defRPr>
            </a:pPr>
            <a:r>
              <a:t>apparatus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50000" y="2470000"/>
            <a:ext cx="40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设备信息表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apparatusid, innernumber, apparatusname, constpower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0000" y="3400000"/>
            <a:ext cx="4200000" cy="110000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000" y="3460000"/>
            <a:ext cx="400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1A56DB"/>
                </a:solidFill>
                <a:latin typeface="微软雅黑"/>
              </a:defRPr>
            </a:pPr>
            <a:r>
              <a:t>sensors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000" y="3720000"/>
            <a:ext cx="40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传感器配置表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sensorid, sensorname, dispname, outputvalue（17通道）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0000" y="3400000"/>
            <a:ext cx="4200000" cy="110000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50000" y="3460000"/>
            <a:ext cx="400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1A56DB"/>
                </a:solidFill>
                <a:latin typeface="微软雅黑"/>
              </a:defRPr>
            </a:pPr>
            <a:r>
              <a:t>CalibrationRecords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50000" y="3720000"/>
            <a:ext cx="40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校准记录表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Id(GUID), CalibrationDate, TemperatureData(JSON), 9测温点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0000" y="600000"/>
            <a:ext cx="3500000" cy="1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0" b="1">
                <a:solidFill>
                  <a:srgbClr val="1A56DB"/>
                </a:solidFill>
                <a:latin typeface="微软雅黑"/>
              </a:defRPr>
            </a:pPr>
            <a:r>
              <a:t>07</a:t>
            </a:r>
          </a:p>
        </p:txBody>
      </p:sp>
      <p:sp>
        <p:nvSpPr>
          <p:cNvPr id="3" name="Rectangle 2"/>
          <p:cNvSpPr/>
          <p:nvPr/>
        </p:nvSpPr>
        <p:spPr>
          <a:xfrm>
            <a:off x="400000" y="2000000"/>
            <a:ext cx="800000" cy="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0000" y="2150000"/>
            <a:ext cx="50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1E1E1E"/>
                </a:solidFill>
                <a:latin typeface="微软雅黑"/>
              </a:defRPr>
            </a:pPr>
            <a:r>
              <a:t>软件详细设计</a:t>
            </a:r>
          </a:p>
        </p:txBody>
      </p:sp>
      <p:sp>
        <p:nvSpPr>
          <p:cNvPr id="5" name="Rectangle 4"/>
          <p:cNvSpPr/>
          <p:nvPr/>
        </p:nvSpPr>
        <p:spPr>
          <a:xfrm>
            <a:off x="7850000" y="700000"/>
            <a:ext cx="0" cy="3600000"/>
          </a:xfrm>
          <a:prstGeom prst="rect">
            <a:avLst/>
          </a:prstGeom>
          <a:noFill/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0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50000" y="130000"/>
            <a:ext cx="200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/>
              </a:defRPr>
            </a:pPr>
            <a:r>
              <a:t>07 软件详细设计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0000" y="350000"/>
            <a:ext cx="85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1E1E1E"/>
                </a:solidFill>
                <a:latin typeface="微软雅黑"/>
              </a:defRPr>
            </a:pPr>
            <a:r>
              <a:t>试验状态机设计</a:t>
            </a:r>
          </a:p>
        </p:txBody>
      </p:sp>
      <p:sp>
        <p:nvSpPr>
          <p:cNvPr id="5" name="Rectangle 4"/>
          <p:cNvSpPr/>
          <p:nvPr/>
        </p:nvSpPr>
        <p:spPr>
          <a:xfrm>
            <a:off x="350000" y="780000"/>
            <a:ext cx="8400000" cy="2500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00000" y="4900000"/>
            <a:ext cx="6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微软雅黑"/>
              </a:defRPr>
            </a:pPr>
            <a:r>
              <a:t>21</a:t>
            </a:r>
          </a:p>
        </p:txBody>
      </p:sp>
      <p:sp>
        <p:nvSpPr>
          <p:cNvPr id="7" name="Rectangle 6"/>
          <p:cNvSpPr/>
          <p:nvPr/>
        </p:nvSpPr>
        <p:spPr>
          <a:xfrm>
            <a:off x="200000" y="1200000"/>
            <a:ext cx="1600000" cy="120000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0000" y="1320000"/>
            <a:ext cx="1440000" cy="5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微软雅黑"/>
              </a:defRPr>
            </a:pPr>
            <a:r>
              <a:t>Idle</a:t>
            </a:r>
            <a:br/>
            <a:r>
              <a:t>空闲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0000" y="1930000"/>
            <a:ext cx="144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DDEEFF"/>
                </a:solidFill>
                <a:latin typeface="微软雅黑"/>
              </a:defRPr>
            </a:pPr>
            <a:r>
              <a:t>等待</a:t>
            </a:r>
            <a:br/>
            <a:r>
              <a:t>用户操作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00000" y="1600000"/>
            <a:ext cx="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E1E1E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00000" y="1200000"/>
            <a:ext cx="1600000" cy="12000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80000" y="1320000"/>
            <a:ext cx="1440000" cy="5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微软雅黑"/>
              </a:defRPr>
            </a:pPr>
            <a:r>
              <a:t>Preparing</a:t>
            </a:r>
            <a:br/>
            <a:r>
              <a:t>升温中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80000" y="1930000"/>
            <a:ext cx="144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DDEEFF"/>
                </a:solidFill>
                <a:latin typeface="微软雅黑"/>
              </a:defRPr>
            </a:pPr>
            <a:r>
              <a:t>炉温升至</a:t>
            </a:r>
            <a:br/>
            <a:r>
              <a:t>750°C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000" y="1600000"/>
            <a:ext cx="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E1E1E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00000" y="1200000"/>
            <a:ext cx="1600000" cy="1200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80000" y="1320000"/>
            <a:ext cx="1440000" cy="5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微软雅黑"/>
              </a:defRPr>
            </a:pPr>
            <a:r>
              <a:t>Ready</a:t>
            </a:r>
            <a:br/>
            <a:r>
              <a:t>就绪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0000" y="1930000"/>
            <a:ext cx="144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DDEEFF"/>
                </a:solidFill>
                <a:latin typeface="微软雅黑"/>
              </a:defRPr>
            </a:pPr>
            <a:r>
              <a:t>温度稳定</a:t>
            </a:r>
            <a:br/>
            <a:r>
              <a:t>等待记录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00000" y="1600000"/>
            <a:ext cx="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E1E1E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00000" y="1200000"/>
            <a:ext cx="1600000" cy="120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80000" y="1320000"/>
            <a:ext cx="1440000" cy="5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微软雅黑"/>
              </a:defRPr>
            </a:pPr>
            <a:r>
              <a:t>Recording</a:t>
            </a:r>
            <a:br/>
            <a:r>
              <a:t>记录中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80000" y="1930000"/>
            <a:ext cx="144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DDEEFF"/>
                </a:solidFill>
                <a:latin typeface="微软雅黑"/>
              </a:defRPr>
            </a:pPr>
            <a:r>
              <a:t>每秒记录</a:t>
            </a:r>
            <a:br/>
            <a:r>
              <a:t>温度数据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00000" y="1600000"/>
            <a:ext cx="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E1E1E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00000" y="1200000"/>
            <a:ext cx="1600000" cy="120000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80000" y="1320000"/>
            <a:ext cx="1440000" cy="5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微软雅黑"/>
              </a:defRPr>
            </a:pPr>
            <a:r>
              <a:t>Complete</a:t>
            </a:r>
            <a:br/>
            <a:r>
              <a:t>完成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80000" y="1930000"/>
            <a:ext cx="144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DDEEFF"/>
                </a:solidFill>
                <a:latin typeface="微软雅黑"/>
              </a:defRPr>
            </a:pPr>
            <a:r>
              <a:t>试验结束</a:t>
            </a:r>
            <a:br/>
            <a:r>
              <a:t>等待保存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0000" y="2600000"/>
            <a:ext cx="5400000" cy="23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0000" y="2660000"/>
            <a:ext cx="520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1A56DB"/>
                </a:solidFill>
                <a:latin typeface="微软雅黑"/>
              </a:defRPr>
            </a:pPr>
            <a:r>
              <a:t>状态转换条件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0000" y="2920000"/>
            <a:ext cx="5200000" cy="19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1. Idle → Preparing：用户点击「开始升温」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2. Preparing → Ready：温度达745~755°C且连续稳定3.2秒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3. Ready → Recording：用户点击「开始记录」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4. Recording → Complete：60分钟到期 / 手动停止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5. Ready → Preparing：温度跌出稳定范围（自动回退）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6. Preparing/Ready → Idle：用户点击「停止加热」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7. Complete → Preparing：保存试验记录后（保持炉温）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00000" y="2600000"/>
            <a:ext cx="3000000" cy="23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00000" y="2660000"/>
            <a:ext cx="280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1A56DB"/>
                </a:solidFill>
                <a:latin typeface="微软雅黑"/>
              </a:defRPr>
            </a:pPr>
            <a:r>
              <a:t>按钮状态控制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00000" y="2920000"/>
            <a:ext cx="2800000" cy="19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新建试验：Idle✅ | 其他❌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开始升温：Idle✅ | 其他❌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停止升温：Preparing/Ready✅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开始记录：Ready✅ | 其他❌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停止记录：Recording✅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试验记录：Complete✅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关键保护：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未保存试验 → 锁定新建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0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50000" y="130000"/>
            <a:ext cx="200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/>
              </a:defRPr>
            </a:pPr>
            <a:r>
              <a:t>07 软件详细设计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0000" y="350000"/>
            <a:ext cx="85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1E1E1E"/>
                </a:solidFill>
                <a:latin typeface="微软雅黑"/>
              </a:defRPr>
            </a:pPr>
            <a:r>
              <a:t>5通道温度仿真引擎</a:t>
            </a:r>
          </a:p>
        </p:txBody>
      </p:sp>
      <p:sp>
        <p:nvSpPr>
          <p:cNvPr id="5" name="Rectangle 4"/>
          <p:cNvSpPr/>
          <p:nvPr/>
        </p:nvSpPr>
        <p:spPr>
          <a:xfrm>
            <a:off x="350000" y="780000"/>
            <a:ext cx="8400000" cy="2500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00000" y="4900000"/>
            <a:ext cx="6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微软雅黑"/>
              </a:defRPr>
            </a:pPr>
            <a: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0000" y="850000"/>
            <a:ext cx="85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1E1E1E"/>
                </a:solidFill>
                <a:latin typeface="微软雅黑"/>
              </a:defRPr>
            </a:pPr>
            <a:r>
              <a:t>SensorSimulator.Update() — 每800ms执行一次，根据当前状态计算各通道温度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180000" y="1250000"/>
            <a:ext cx="1680000" cy="23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0000" y="1310000"/>
            <a:ext cx="148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EF4444"/>
                </a:solidFill>
                <a:latin typeface="微软雅黑"/>
              </a:defRPr>
            </a:pPr>
            <a:r>
              <a:t>炉温1 TF1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0000" y="1570000"/>
            <a:ext cx="1480000" cy="19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升温：+HeatingRate×0.8/次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稳定：钳位750°C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降温：-0.5/次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60000" y="1250000"/>
            <a:ext cx="1680000" cy="23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60000" y="1310000"/>
            <a:ext cx="148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EF4444"/>
                </a:solidFill>
                <a:latin typeface="微软雅黑"/>
              </a:defRPr>
            </a:pPr>
            <a:r>
              <a:t>炉温2 TF2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0000" y="1570000"/>
            <a:ext cx="1480000" cy="19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升温：与TF1同步+独立噪声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稳定：钳位750°C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降温：-0.5/次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40000" y="1250000"/>
            <a:ext cx="1680000" cy="23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000" y="1310000"/>
            <a:ext cx="148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0096D6"/>
                </a:solidFill>
                <a:latin typeface="微软雅黑"/>
              </a:defRPr>
            </a:pPr>
            <a:r>
              <a:t>表面温 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000" y="1570000"/>
            <a:ext cx="1480000" cy="19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非记录：TF1×0.3+噪声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记录：向TF1×0.95指数接近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上限800°C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20000" y="1250000"/>
            <a:ext cx="1680000" cy="23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20000" y="1310000"/>
            <a:ext cx="148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1A56DB"/>
                </a:solidFill>
                <a:latin typeface="微软雅黑"/>
              </a:defRPr>
            </a:pPr>
            <a:r>
              <a:t>中心温 TC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0000" y="1570000"/>
            <a:ext cx="1480000" cy="19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非记录：TF1×0.25+噪声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记录：向TF1×0.85指数接近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比表面温更慢，上限750°C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00000" y="1250000"/>
            <a:ext cx="1680000" cy="23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00000" y="1310000"/>
            <a:ext cx="148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6B7280"/>
                </a:solidFill>
                <a:latin typeface="微软雅黑"/>
              </a:defRPr>
            </a:pPr>
            <a:r>
              <a:t>校准温 TCal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0000" y="1570000"/>
            <a:ext cx="1480000" cy="19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TCal = TF1 + 随机波动×2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仅数值显示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不在曲线图中体现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0000" y="3700000"/>
            <a:ext cx="8800000" cy="12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0000" y="3760000"/>
            <a:ext cx="860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1A56DB"/>
                </a:solidFill>
                <a:latin typeface="微软雅黑"/>
              </a:defRPr>
            </a:pPr>
            <a:r>
              <a:t>随机噪声 &amp; 仿真参数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0000" y="4020000"/>
            <a:ext cx="8600000" cy="8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噪声模型：每个通道叠加 Random(-1, 1) × TempFluctuation，默认 TempFluctuation = 0.5°C，各通道噪声独立生成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配置参数（appsettings.json）：InitialFurnaceTemp=720°C | TargetFurnaceTemp=750°C | HeatingRatePerSecond=40°C/s | StableThreshold=3°C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双模式切换：EnableSimulation=true（仿真模式，开发/教学用）；EnableSimulation=false（硬件模式，对接真实Modbus RTU设备）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0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50000" y="130000"/>
            <a:ext cx="200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/>
              </a:defRPr>
            </a:pPr>
            <a:r>
              <a:t>07 软件详细设计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0000" y="350000"/>
            <a:ext cx="85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1E1E1E"/>
                </a:solidFill>
                <a:latin typeface="微软雅黑"/>
              </a:defRPr>
            </a:pPr>
            <a:r>
              <a:t>温漂计算与终止判定</a:t>
            </a:r>
          </a:p>
        </p:txBody>
      </p:sp>
      <p:sp>
        <p:nvSpPr>
          <p:cNvPr id="5" name="Rectangle 4"/>
          <p:cNvSpPr/>
          <p:nvPr/>
        </p:nvSpPr>
        <p:spPr>
          <a:xfrm>
            <a:off x="350000" y="780000"/>
            <a:ext cx="8400000" cy="2500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00000" y="4900000"/>
            <a:ext cx="6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微软雅黑"/>
              </a:defRPr>
            </a:pPr>
            <a:r>
              <a:t>23</a:t>
            </a:r>
          </a:p>
        </p:txBody>
      </p:sp>
      <p:sp>
        <p:nvSpPr>
          <p:cNvPr id="7" name="Rectangle 6"/>
          <p:cNvSpPr/>
          <p:nvPr/>
        </p:nvSpPr>
        <p:spPr>
          <a:xfrm>
            <a:off x="350000" y="900000"/>
            <a:ext cx="4200000" cy="28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0000" y="960000"/>
            <a:ext cx="400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1A56DB"/>
                </a:solidFill>
                <a:latin typeface="微软雅黑"/>
              </a:defRPr>
            </a:pPr>
            <a:r>
              <a:t>温漂计算（Temperature Drift）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000" y="1220000"/>
            <a:ext cx="4000000" cy="2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目的：量化判断炉温是否处于稳定状态。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方法：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1. 维护最近10分钟（600个数据点）的炉温1/炉温2滑动窗口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2. 使用 MathNet.Numerics 的 SimpleRegression 进行最小二乘线性拟合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3. 温漂 = 回归斜率 × 600，单位 °C/10min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4. 斜率绝对值 &lt; 阈值（约2°C/10min）→ 温度稳定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优势：相比首尾差值法，线性回归对全部数据点平均化处理，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有效削弱瞬时波动和噪声干扰，准确反映温度长期变化趋势。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00000" y="900000"/>
            <a:ext cx="4200000" cy="28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00000" y="960000"/>
            <a:ext cx="400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E86A17"/>
                </a:solidFill>
                <a:latin typeface="微软雅黑"/>
              </a:defRPr>
            </a:pPr>
            <a:r>
              <a:t>试验终止判定逻辑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00000" y="1220000"/>
            <a:ext cx="4000000" cy="2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标准60分钟模式：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  • 第30/35/40/45/50/55分钟检查终止条件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  • 炉温1和炉温2的10分钟温漂均 ≤ 阈值 → 提前终止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  • 第60分钟到达 → 无条件终止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固定时长模式：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  • 忽略提前终止检查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  • Elapsed ≥ TargetDuration → 终止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手动终止：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  • 用户点击「停止记录」按钮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判定结论：deltatf ≤ 50 且 lostweight_per ≤ 50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且 flameduration &lt; 5 → 试验通过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0000" y="3900000"/>
            <a:ext cx="8450000" cy="10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000" y="3960000"/>
            <a:ext cx="82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1A56DB"/>
                </a:solidFill>
                <a:latin typeface="微软雅黑"/>
              </a:defRPr>
            </a:pPr>
            <a:r>
              <a:t>恒功率值计算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000" y="4220000"/>
            <a:ext cx="8250000" cy="6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系统进入 Ready 状态后持续记录 PID 输出值到队列（最多600个）。用户点击「开始记录」时，恒功率 = 队列中所有PID输出值的平均值，随后切换到恒功率模式运行。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0000" y="600000"/>
            <a:ext cx="3500000" cy="1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0" b="1">
                <a:solidFill>
                  <a:srgbClr val="1A56DB"/>
                </a:solidFill>
                <a:latin typeface="微软雅黑"/>
              </a:defRPr>
            </a:pPr>
            <a:r>
              <a:t>08</a:t>
            </a:r>
          </a:p>
        </p:txBody>
      </p:sp>
      <p:sp>
        <p:nvSpPr>
          <p:cNvPr id="3" name="Rectangle 2"/>
          <p:cNvSpPr/>
          <p:nvPr/>
        </p:nvSpPr>
        <p:spPr>
          <a:xfrm>
            <a:off x="400000" y="2000000"/>
            <a:ext cx="800000" cy="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0000" y="2150000"/>
            <a:ext cx="50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1E1E1E"/>
                </a:solidFill>
                <a:latin typeface="微软雅黑"/>
              </a:defRPr>
            </a:pPr>
            <a:r>
              <a:t>软件实现与展示</a:t>
            </a:r>
          </a:p>
        </p:txBody>
      </p:sp>
      <p:sp>
        <p:nvSpPr>
          <p:cNvPr id="5" name="Rectangle 4"/>
          <p:cNvSpPr/>
          <p:nvPr/>
        </p:nvSpPr>
        <p:spPr>
          <a:xfrm>
            <a:off x="7850000" y="700000"/>
            <a:ext cx="0" cy="3600000"/>
          </a:xfrm>
          <a:prstGeom prst="rect">
            <a:avLst/>
          </a:prstGeom>
          <a:noFill/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0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50000" y="130000"/>
            <a:ext cx="200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/>
              </a:defRPr>
            </a:pPr>
            <a:r>
              <a:t>08 软件实现与展示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0000" y="350000"/>
            <a:ext cx="85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1E1E1E"/>
                </a:solidFill>
                <a:latin typeface="微软雅黑"/>
              </a:defRPr>
            </a:pPr>
            <a:r>
              <a:t>技术栈与项目结构</a:t>
            </a:r>
          </a:p>
        </p:txBody>
      </p:sp>
      <p:sp>
        <p:nvSpPr>
          <p:cNvPr id="5" name="Rectangle 4"/>
          <p:cNvSpPr/>
          <p:nvPr/>
        </p:nvSpPr>
        <p:spPr>
          <a:xfrm>
            <a:off x="350000" y="780000"/>
            <a:ext cx="8400000" cy="2500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00000" y="4900000"/>
            <a:ext cx="6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微软雅黑"/>
              </a:defRPr>
            </a:pPr>
            <a:r>
              <a:t>25</a:t>
            </a:r>
          </a:p>
        </p:txBody>
      </p:sp>
      <p:sp>
        <p:nvSpPr>
          <p:cNvPr id="7" name="Rectangle 6"/>
          <p:cNvSpPr/>
          <p:nvPr/>
        </p:nvSpPr>
        <p:spPr>
          <a:xfrm>
            <a:off x="350000" y="900000"/>
            <a:ext cx="4200000" cy="25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0000" y="960000"/>
            <a:ext cx="400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1A56DB"/>
                </a:solidFill>
                <a:latin typeface="微软雅黑"/>
              </a:defRPr>
            </a:pPr>
            <a:r>
              <a:t>开发技术栈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000" y="1220000"/>
            <a:ext cx="4000000" cy="21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• 开发框架：.NET 8（C#）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• UI框架：Windows Forms（WinForms）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• 数据库：SQLite（Microsoft.Data.Sqlite）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• 图表控件：OxyPlot.WindowsForms 2.x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• Excel生成：EPPlus 7.x（多Sheet+嵌入图表）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• PDF生成：PDFsharp-MigraDoc 6.x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• 数值计算：MathNet.Numerics 5.x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• 日志记录：Serilog + Serilog.Sinks.File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• 配置管理：Microsoft.Extensions.Configuration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• IDE：Visual Studio 2022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00000" y="900000"/>
            <a:ext cx="4200000" cy="25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00000" y="960000"/>
            <a:ext cx="400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1A56DB"/>
                </a:solidFill>
                <a:latin typeface="微软雅黑"/>
              </a:defRPr>
            </a:pPr>
            <a:r>
              <a:t>项目文件结构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00000" y="1220000"/>
            <a:ext cx="4000000" cy="21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ISO11820.App/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├── Models/        6个实体类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├── Data/          DbHelper（SQLite封装）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├── Config/        AppConfig（配置读取）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├── Core/          TestController | DaqWorker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│                  SensorSimulator | AppContext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├── Services/      ExportService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├── Forms/         LoginForm | MainForm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│                  NewExperimentDialog 等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├── appsettings.json  全局配置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└── Program.cs       程序入口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0000" y="3600000"/>
            <a:ext cx="8450000" cy="13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000" y="3660000"/>
            <a:ext cx="82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1A56DB"/>
                </a:solidFill>
                <a:latin typeface="微软雅黑"/>
              </a:defRPr>
            </a:pPr>
            <a:r>
              <a:t>关键 NuGet 依赖说明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000" y="3920000"/>
            <a:ext cx="8250000" cy="9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• Microsoft.Data.Sqlite — 直接执行SQL，不用ORM，透明可调试，参数化查询防注入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• OxyPlot.WindowsForms — 4条温度曲线实时渲染，X轴滚动10分钟窗口，Y轴0~800°C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• EPPlus 7.x — Excel三Sheet导出：试验信息表 + 温度数据表 + 嵌入式曲线图表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• PDFsharp-MigraDoc 6.x — PDF报告生成：试验概要表格 + 温度曲线图片 + 判定结论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0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50000" y="130000"/>
            <a:ext cx="200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/>
              </a:defRPr>
            </a:pPr>
            <a:r>
              <a:t>08 软件实现与展示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0000" y="350000"/>
            <a:ext cx="85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1E1E1E"/>
                </a:solidFill>
                <a:latin typeface="微软雅黑"/>
              </a:defRPr>
            </a:pPr>
            <a:r>
              <a:t>系统功能演示流程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350000" y="780000"/>
            <a:ext cx="8400000" cy="2500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00000" y="4900000"/>
            <a:ext cx="6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微软雅黑"/>
              </a:defRPr>
            </a:pPr>
            <a:r>
              <a:t>26</a:t>
            </a:r>
          </a:p>
        </p:txBody>
      </p:sp>
      <p:sp>
        <p:nvSpPr>
          <p:cNvPr id="7" name="Rectangle 6"/>
          <p:cNvSpPr/>
          <p:nvPr/>
        </p:nvSpPr>
        <p:spPr>
          <a:xfrm>
            <a:off x="150000" y="1000000"/>
            <a:ext cx="2050000" cy="170000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0000" y="1080000"/>
            <a:ext cx="550000" cy="55000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0000" y="1700000"/>
            <a:ext cx="1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E1E1E"/>
                </a:solidFill>
                <a:latin typeface="微软雅黑"/>
              </a:defRPr>
            </a:pPr>
            <a:r>
              <a:t>登录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0000" y="1980000"/>
            <a:ext cx="185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79"/>
              </a:spcAft>
              <a:defRPr sz="1200">
                <a:solidFill>
                  <a:srgbClr val="6B7280"/>
                </a:solidFill>
                <a:latin typeface="微软雅黑"/>
              </a:defRPr>
            </a:pPr>
            <a:r>
              <a:t>选择角色</a:t>
            </a:r>
          </a:p>
          <a:p>
            <a:pPr algn="ctr">
              <a:spcAft>
                <a:spcPts val="479"/>
              </a:spcAft>
              <a:defRPr sz="1200">
                <a:solidFill>
                  <a:srgbClr val="6B7280"/>
                </a:solidFill>
                <a:latin typeface="微软雅黑"/>
              </a:defRPr>
            </a:pPr>
            <a:r>
              <a:t>输入密码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00000" y="1000000"/>
            <a:ext cx="2050000" cy="170000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50000" y="1080000"/>
            <a:ext cx="550000" cy="55000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00000" y="1700000"/>
            <a:ext cx="1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E1E1E"/>
                </a:solidFill>
                <a:latin typeface="微软雅黑"/>
              </a:defRPr>
            </a:pPr>
            <a:r>
              <a:t>新建试验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00000" y="1980000"/>
            <a:ext cx="185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79"/>
              </a:spcAft>
              <a:defRPr sz="1200">
                <a:solidFill>
                  <a:srgbClr val="6B7280"/>
                </a:solidFill>
                <a:latin typeface="微软雅黑"/>
              </a:defRPr>
            </a:pPr>
            <a:r>
              <a:t>填写样品信息</a:t>
            </a:r>
          </a:p>
          <a:p>
            <a:pPr algn="ctr">
              <a:spcAft>
                <a:spcPts val="479"/>
              </a:spcAft>
              <a:defRPr sz="1200">
                <a:solidFill>
                  <a:srgbClr val="6B7280"/>
                </a:solidFill>
                <a:latin typeface="微软雅黑"/>
              </a:defRPr>
            </a:pPr>
            <a:r>
              <a:t>设置试验参数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50000" y="1000000"/>
            <a:ext cx="2050000" cy="170000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400000" y="1080000"/>
            <a:ext cx="550000" cy="55000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0000" y="1700000"/>
            <a:ext cx="1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E1E1E"/>
                </a:solidFill>
                <a:latin typeface="微软雅黑"/>
              </a:defRPr>
            </a:pPr>
            <a:r>
              <a:t>开始升温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0000" y="1980000"/>
            <a:ext cx="185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79"/>
              </a:spcAft>
              <a:defRPr sz="1200">
                <a:solidFill>
                  <a:srgbClr val="6B7280"/>
                </a:solidFill>
                <a:latin typeface="微软雅黑"/>
              </a:defRPr>
            </a:pPr>
            <a:r>
              <a:t>炉温升至750°C</a:t>
            </a:r>
          </a:p>
          <a:p>
            <a:pPr algn="ctr">
              <a:spcAft>
                <a:spcPts val="479"/>
              </a:spcAft>
              <a:defRPr sz="1200">
                <a:solidFill>
                  <a:srgbClr val="6B7280"/>
                </a:solidFill>
                <a:latin typeface="微软雅黑"/>
              </a:defRPr>
            </a:pPr>
            <a:r>
              <a:t>曲线实时更新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00000" y="1000000"/>
            <a:ext cx="2050000" cy="170000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650000" y="1080000"/>
            <a:ext cx="550000" cy="55000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00000" y="1700000"/>
            <a:ext cx="1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E1E1E"/>
                </a:solidFill>
                <a:latin typeface="微软雅黑"/>
              </a:defRPr>
            </a:pPr>
            <a:r>
              <a:t>温度稳定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00000" y="1980000"/>
            <a:ext cx="185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79"/>
              </a:spcAft>
              <a:defRPr sz="1200">
                <a:solidFill>
                  <a:srgbClr val="6B7280"/>
                </a:solidFill>
                <a:latin typeface="微软雅黑"/>
              </a:defRPr>
            </a:pPr>
            <a:r>
              <a:t>连续稳定3.2秒</a:t>
            </a:r>
          </a:p>
          <a:p>
            <a:pPr algn="ctr">
              <a:spcAft>
                <a:spcPts val="479"/>
              </a:spcAft>
              <a:defRPr sz="1200">
                <a:solidFill>
                  <a:srgbClr val="6B7280"/>
                </a:solidFill>
                <a:latin typeface="微软雅黑"/>
              </a:defRPr>
            </a:pPr>
            <a:r>
              <a:t>自动进入Ready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0000" y="2900000"/>
            <a:ext cx="2050000" cy="170000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00000" y="2980000"/>
            <a:ext cx="550000" cy="55000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0000" y="3600000"/>
            <a:ext cx="1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E1E1E"/>
                </a:solidFill>
                <a:latin typeface="微软雅黑"/>
              </a:defRPr>
            </a:pPr>
            <a:r>
              <a:t>开始记录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0000" y="3880000"/>
            <a:ext cx="185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79"/>
              </a:spcAft>
              <a:defRPr sz="1200">
                <a:solidFill>
                  <a:srgbClr val="6B7280"/>
                </a:solidFill>
                <a:latin typeface="微软雅黑"/>
              </a:defRPr>
            </a:pPr>
            <a:r>
              <a:t>计时器启动</a:t>
            </a:r>
          </a:p>
          <a:p>
            <a:pPr algn="ctr">
              <a:spcAft>
                <a:spcPts val="479"/>
              </a:spcAft>
              <a:defRPr sz="1200">
                <a:solidFill>
                  <a:srgbClr val="6B7280"/>
                </a:solidFill>
                <a:latin typeface="微软雅黑"/>
              </a:defRPr>
            </a:pPr>
            <a:r>
              <a:t>每秒记录温度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00000" y="2900000"/>
            <a:ext cx="2050000" cy="170000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150000" y="2980000"/>
            <a:ext cx="550000" cy="55000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00000" y="3600000"/>
            <a:ext cx="1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E1E1E"/>
                </a:solidFill>
                <a:latin typeface="微软雅黑"/>
              </a:defRPr>
            </a:pPr>
            <a:r>
              <a:t>完成试验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00000" y="3880000"/>
            <a:ext cx="185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79"/>
              </a:spcAft>
              <a:defRPr sz="1200">
                <a:solidFill>
                  <a:srgbClr val="6B7280"/>
                </a:solidFill>
                <a:latin typeface="微软雅黑"/>
              </a:defRPr>
            </a:pPr>
            <a:r>
              <a:t>60分钟到期</a:t>
            </a:r>
          </a:p>
          <a:p>
            <a:pPr algn="ctr">
              <a:spcAft>
                <a:spcPts val="479"/>
              </a:spcAft>
              <a:defRPr sz="1200">
                <a:solidFill>
                  <a:srgbClr val="6B7280"/>
                </a:solidFill>
                <a:latin typeface="微软雅黑"/>
              </a:defRPr>
            </a:pPr>
            <a:r>
              <a:t>或手动停止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50000" y="2900000"/>
            <a:ext cx="2050000" cy="170000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400000" y="2980000"/>
            <a:ext cx="550000" cy="55000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0000" y="3600000"/>
            <a:ext cx="1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E1E1E"/>
                </a:solidFill>
                <a:latin typeface="微软雅黑"/>
              </a:defRPr>
            </a:pPr>
            <a:r>
              <a:t>保存记录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0000" y="3880000"/>
            <a:ext cx="185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79"/>
              </a:spcAft>
              <a:defRPr sz="1200">
                <a:solidFill>
                  <a:srgbClr val="6B7280"/>
                </a:solidFill>
                <a:latin typeface="微软雅黑"/>
              </a:defRPr>
            </a:pPr>
            <a:r>
              <a:t>填写现象/质量</a:t>
            </a:r>
          </a:p>
          <a:p>
            <a:pPr algn="ctr">
              <a:spcAft>
                <a:spcPts val="479"/>
              </a:spcAft>
              <a:defRPr sz="1200">
                <a:solidFill>
                  <a:srgbClr val="6B7280"/>
                </a:solidFill>
                <a:latin typeface="微软雅黑"/>
              </a:defRPr>
            </a:pPr>
            <a:r>
              <a:t>自动计算失重率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00000" y="2900000"/>
            <a:ext cx="2050000" cy="170000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650000" y="2980000"/>
            <a:ext cx="550000" cy="55000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00000" y="3600000"/>
            <a:ext cx="1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E1E1E"/>
                </a:solidFill>
                <a:latin typeface="微软雅黑"/>
              </a:defRPr>
            </a:pPr>
            <a:r>
              <a:t>导出报告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00000" y="3880000"/>
            <a:ext cx="185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79"/>
              </a:spcAft>
              <a:defRPr sz="1200">
                <a:solidFill>
                  <a:srgbClr val="6B7280"/>
                </a:solidFill>
                <a:latin typeface="微软雅黑"/>
              </a:defRPr>
            </a:pPr>
            <a:r>
              <a:t>CSV/Excel/PDF</a:t>
            </a:r>
          </a:p>
          <a:p>
            <a:pPr algn="ctr">
              <a:spcAft>
                <a:spcPts val="479"/>
              </a:spcAft>
              <a:defRPr sz="1200">
                <a:solidFill>
                  <a:srgbClr val="6B7280"/>
                </a:solidFill>
                <a:latin typeface="微软雅黑"/>
              </a:defRPr>
            </a:pPr>
            <a:r>
              <a:t>一键导出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0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50000" y="130000"/>
            <a:ext cx="200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/>
              </a:defRPr>
            </a:pPr>
            <a:r>
              <a:t>08 软件实现与展示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0000" y="350000"/>
            <a:ext cx="85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1E1E1E"/>
                </a:solidFill>
                <a:latin typeface="微软雅黑"/>
              </a:defRPr>
            </a:pPr>
            <a:r>
              <a:t>关键技术亮点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350000" y="780000"/>
            <a:ext cx="8400000" cy="2500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00000" y="4900000"/>
            <a:ext cx="6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微软雅黑"/>
              </a:defRPr>
            </a:pPr>
            <a:r>
              <a:t>27</a:t>
            </a:r>
          </a:p>
        </p:txBody>
      </p:sp>
      <p:sp>
        <p:nvSpPr>
          <p:cNvPr id="7" name="Rectangle 6"/>
          <p:cNvSpPr/>
          <p:nvPr/>
        </p:nvSpPr>
        <p:spPr>
          <a:xfrm>
            <a:off x="350000" y="900000"/>
            <a:ext cx="8450000" cy="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0000" y="960000"/>
            <a:ext cx="82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1A56DB"/>
                </a:solidFill>
                <a:latin typeface="微软雅黑"/>
              </a:defRPr>
            </a:pPr>
            <a:r>
              <a:t>仿真先行开发模式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000" y="1220000"/>
            <a:ext cx="825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无硬件依赖的纯软件仿真，EnableSimulation 配置项支持仿真/硬件双模式切换，开发阶段完全脱离物理设备。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0000" y="1580000"/>
            <a:ext cx="8450000" cy="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000" y="1640000"/>
            <a:ext cx="82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1A56DB"/>
                </a:solidFill>
                <a:latin typeface="微软雅黑"/>
              </a:defRPr>
            </a:pPr>
            <a:r>
              <a:t>五状态机驱动架构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000" y="1900000"/>
            <a:ext cx="825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有限状态机严格管理试验全流程，状态转换条件明确、不可跳跃，UI控件状态与后台状态机实时同步。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0000" y="2260000"/>
            <a:ext cx="8450000" cy="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000" y="2320000"/>
            <a:ext cx="82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1A56DB"/>
                </a:solidFill>
                <a:latin typeface="微软雅黑"/>
              </a:defRPr>
            </a:pPr>
            <a:r>
              <a:t>多通道物理仿真算法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000" y="2580000"/>
            <a:ext cx="825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5通道温度仿真各具独立噪声和差异化动态特性，复现真实试验的升温、稳定、记录、降温过程。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0000" y="2940000"/>
            <a:ext cx="8450000" cy="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000" y="3000000"/>
            <a:ext cx="82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1A56DB"/>
                </a:solidFill>
                <a:latin typeface="微软雅黑"/>
              </a:defRPr>
            </a:pPr>
            <a:r>
              <a:t>线性回归温漂判定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000" y="3260000"/>
            <a:ext cx="825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最小二乘线性回归替代人工经验判断，将ISO标准中的定性'稳定'概念转化为可量化的数学判定模型。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0000" y="3620000"/>
            <a:ext cx="8450000" cy="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000" y="3680000"/>
            <a:ext cx="82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1A56DB"/>
                </a:solidFill>
                <a:latin typeface="微软雅黑"/>
              </a:defRPr>
            </a:pPr>
            <a:r>
              <a:t>跨线程安全数据广播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000" y="3940000"/>
            <a:ext cx="825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后台DaqWorker每800ms生成数据→事件通知UI→Invoke安全更新控件，确保长时间运行流畅稳定。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0000" y="4300000"/>
            <a:ext cx="8450000" cy="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0000" y="4360000"/>
            <a:ext cx="82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1A56DB"/>
                </a:solidFill>
                <a:latin typeface="微软雅黑"/>
              </a:defRPr>
            </a:pPr>
            <a:r>
              <a:t>三种格式智能导出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0000" y="4620000"/>
            <a:ext cx="825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CSV实时写入、Excel多Sheet+图表嵌入（EPPlus）、PDF报告（MigraDoc），自动计算温升/失重率并给出判定结论。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0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50000" y="130000"/>
            <a:ext cx="200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/>
              </a:defRPr>
            </a:pPr>
            <a:r>
              <a:t>08 软件实现与展示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0000" y="350000"/>
            <a:ext cx="85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1E1E1E"/>
                </a:solidFill>
                <a:latin typeface="微软雅黑"/>
              </a:defRPr>
            </a:pPr>
            <a:r>
              <a:t>项目总结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350000" y="780000"/>
            <a:ext cx="8400000" cy="2500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00000" y="4900000"/>
            <a:ext cx="6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微软雅黑"/>
              </a:defRPr>
            </a:pPr>
            <a:r>
              <a:t>28</a:t>
            </a:r>
          </a:p>
        </p:txBody>
      </p:sp>
      <p:sp>
        <p:nvSpPr>
          <p:cNvPr id="7" name="Rectangle 6"/>
          <p:cNvSpPr/>
          <p:nvPr/>
        </p:nvSpPr>
        <p:spPr>
          <a:xfrm>
            <a:off x="350000" y="900000"/>
            <a:ext cx="8450000" cy="23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0000" y="960000"/>
            <a:ext cx="82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微软雅黑"/>
              </a:defRPr>
            </a:pPr>
            <a:r>
              <a:t>已完成的工作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000" y="1220000"/>
            <a:ext cx="8250000" cy="19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1. 设计并实现了 ISO 11820 建筑材料不燃性试验仿真系统，覆盖登录→新建试验→升温→稳定判定→记录→保存→报告导出的完整流程。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2. 实现了5通道温度仿真引擎，支持升温/稳定/记录/降温四阶段，各通道具有独立噪声和差异化动态特性。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3. 基于有限状态机实现了五状态试验管理，状态转换严格遵循ISO标准，按钮智能控制确保操作规范。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4. 基于 MathNet.Numerics 线性回归实现了温漂自动计算和稳定性判定，替代传统人工经验判断。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5. 支持 CSV/Excel/PDF 三种格式报告导出，自动完成失重率、温升等关键指标计算和判定结论。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6. 采用三层架构（基础设施层/核心业务层/UI层），三人分工协作，下层为上层提供清晰接口。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0000" y="3400000"/>
            <a:ext cx="8450000" cy="15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000" y="3460000"/>
            <a:ext cx="82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E86A17"/>
                </a:solidFill>
                <a:latin typeface="微软雅黑"/>
              </a:defRPr>
            </a:pPr>
            <a:r>
              <a:t>未来改进方向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000" y="3720000"/>
            <a:ext cx="8250000" cy="1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1. 架构演进：将 WinForms 升级为 Web 架构（ASP.NET Core + Blazor），支持跨平台访问和远程运维。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2. 仿真精度：引入更精确的热力学有限元模型，使仿真温度曲线更接近真实物理过程。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3. 智能升级：引入机器学习模型，基于历史数据预测材料不燃性能。</a:t>
            </a:r>
          </a:p>
          <a:p>
            <a:pPr algn="l">
              <a:spcAft>
                <a:spcPts val="330"/>
              </a:spcAft>
              <a:defRPr sz="1100">
                <a:solidFill>
                  <a:srgbClr val="1E1E1E"/>
                </a:solidFill>
                <a:latin typeface="微软雅黑"/>
              </a:defRPr>
            </a:pPr>
            <a:r>
              <a:t>4. 平台扩展：模块化架构，兼容更多防火测试标准（ISO 1716 等），打造通用测试平台。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00000"/>
            <a:ext cx="9144000" cy="350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0000" y="1300000"/>
            <a:ext cx="7200000" cy="7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微软雅黑"/>
              </a:defRPr>
            </a:pPr>
            <a:r>
              <a:t>敬请各位老师批评指正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0000" y="2400000"/>
            <a:ext cx="72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A0C4FF"/>
                </a:solidFill>
                <a:latin typeface="微软雅黑"/>
              </a:defRPr>
            </a:pPr>
            <a:r>
              <a:t>ISO 11820 建筑材料不燃性试验仿真系统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000" y="3300000"/>
            <a:ext cx="720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80A0D0"/>
                </a:solidFill>
                <a:latin typeface="微软雅黑"/>
              </a:defRPr>
            </a:pPr>
            <a:r>
              <a:t>软件工程课程项目 | 2026年7月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